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on" id="{367AD011-A362-C3D5-6A80-CBDCF6F548DD}">
          <p14:sldIdLst>
            <p14:sldId id="256"/>
            <p14:sldId id="257"/>
            <p14:sldId id="258"/>
            <p14:sldId id="259"/>
          </p14:sldIdLst>
        </p14:section>
        <p14:section name="T5 - Seguridad y Alta Disponibilidad" id="{75DC6504-C20B-1A21-D9B0-CD3679D27999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T6 - Diseno y Documentacion" id="{55211727-9385-0BF3-5BE2-BA70BF3C4325}">
          <p14:sldIdLst>
            <p14:sldId id="266"/>
            <p14:sldId id="267"/>
            <p14:sldId id="268"/>
            <p14:sldId id="269"/>
            <p14:sldId id="270"/>
          </p14:sldIdLst>
        </p14:section>
        <p14:section name="Cierre" id="{CB7C88A4-A8E7-2EE3-5789-41FE15693A48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63" autoAdjust="0"/>
    <p:restoredTop sz="94610"/>
  </p:normalViewPr>
  <p:slideViewPr>
    <p:cSldViewPr snapToGrid="0" snapToObjects="1">
      <p:cViewPr varScale="1">
        <p:scale>
          <a:sx n="209" d="100"/>
          <a:sy n="209" d="100"/>
        </p:scale>
        <p:origin x="456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1546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portada — Sesión 3. Temas T5 y T6.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Resumen ejecutivo de los dos temas. T5 = seguridad operacional. T6 = gobernanza y diseño.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Caso de estudio: API LLM Empresarial. Este sistema une todos los conceptos de T5 y T6.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Objetivos de aprendizaje para T5 y T6. Numerados 01-07 en colores por 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divisor Tema 5 — Seguridad y Alta Disponibilidad.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JWT: Header.Payload.Signature. NUNCA almacenar en localStorage en produccion — usar httpOnly cookies. El secret key debe tener al menos 256 bits de entropia.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Scopes: read &lt; write &lt; admin. El principio de minimo privilegio dicta que cada usuario tenga solo los scopes necesarios. Ataques: nunca aceptar 'alg: none'.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WAF: actua antes del router de FastAPI. Prompt injection es el riesgo mas especifico de LLMs. Las reglas usan regex con re.IGNORECASE.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Circuit Breaker: 3 estados. CERRADO = normal. ABIERTO = bloqueado. SEMI-ABIERTO = probando. Implementado con asyncio.Lock para thread-safety.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RTO = Recovery Time Objective (cuanto tiempo para volver). RPO = Recovery Point Objective (cuantos datos podemos perder). Para LLMs en produccion: minimo Warm Standby.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divisor Tema 6 — Diseno y Documentacion. La documentacion no es burocracia, es comunicacion asincrónica.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ADR: una decision, un archivo, nunca cambia. Si la decision cambia, se escribe ADR-002. Los ADRs son fuente de verdad del POR QUE, no del QUE (para eso esta el codigo).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C4: no es UML pero lo complementa. L1 (Context) lo entiende el CEO. L4 (Code) es opcional — generar desde el IDE. Lo obligatorio: L1 y L2 siempre actualizados.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TCO no es solo el costo de la API. Incluye infraestructura, operaciones y licencias. Ollama gana en volumen alto por costo de tokens = $0. Vertex AI gana en SLA y escala sin gestión.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RFC vs ADR: la RFC es la propuesta ANTES de la decision. El ADR es el registro DESPUES. PRD define el QUE (producto), el RFC define el COMO (tecnologia).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cierre. Preguntas. Recordar a los estudiantes ejecutar los labs y revisar la documentacion en docs/ del repositorio.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217920" y="457200"/>
            <a:ext cx="2743200" cy="4206240"/>
          </a:xfrm>
          <a:prstGeom prst="rect">
            <a:avLst/>
          </a:prstGeom>
          <a:solidFill>
            <a:srgbClr val="1A2838"/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5486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3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005840"/>
            <a:ext cx="5486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Seguridad, Alta</a:t>
            </a:r>
            <a:endParaRPr lang="en-US" sz="3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Disponibilidad y</a:t>
            </a:r>
            <a:endParaRPr lang="en-US" sz="3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Arquitectónico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108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95AA"/>
                </a:solidFill>
              </a:rPr>
              <a:t>Maestría en Inteligencia Artificial Aplicada · BSG Institute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731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00D4FF"/>
                </a:solidFill>
              </a:rPr>
              <a:t>TEMAS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46520" y="1188720"/>
            <a:ext cx="2377440" cy="1097280"/>
          </a:xfrm>
          <a:prstGeom prst="rect">
            <a:avLst/>
          </a:prstGeom>
          <a:solidFill>
            <a:srgbClr val="223548"/>
          </a:solidFill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446520" y="126187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FF"/>
                </a:solidFill>
              </a:rPr>
              <a:t>T5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1719072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E8F0"/>
                </a:solidFill>
              </a:rPr>
              <a:t>Seguridad 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0E8F0"/>
                </a:solidFill>
              </a:rPr>
              <a:t>Alta Disponibilidad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46520" y="2560320"/>
            <a:ext cx="2377440" cy="1097280"/>
          </a:xfrm>
          <a:prstGeom prst="rect">
            <a:avLst/>
          </a:prstGeom>
          <a:solidFill>
            <a:srgbClr val="223548"/>
          </a:solidFill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46520" y="263347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</a:rPr>
              <a:t>T6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090672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E8F0"/>
                </a:solidFill>
              </a:rPr>
              <a:t>Diseño 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0E8F0"/>
                </a:solidFill>
              </a:rPr>
              <a:t>Documentación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480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F54"/>
                </a:solidFill>
              </a:rPr>
              <a:t>Capítulo 2 · Capítulo 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aprenderemos hoy?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95AA"/>
                </a:solidFill>
              </a:rPr>
              <a:t>Dos temas que forman la base de un sistema LLM productivo y sostenible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3931920" cy="3474720"/>
          </a:xfrm>
          <a:prstGeom prst="rect">
            <a:avLst/>
          </a:prstGeom>
          <a:solidFill>
            <a:srgbClr val="1A2838"/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393192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48640" y="14173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D4FF"/>
                </a:solidFill>
              </a:rPr>
              <a:t>T5 · Capítulo 2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7373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y</a:t>
            </a:r>
            <a:endParaRPr lang="en-US" sz="2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Alta Disponibilidad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514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8F0"/>
                </a:solidFill>
              </a:rPr>
              <a:t>🔐  Autenticación JWT y OAuth2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7980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8F0"/>
                </a:solidFill>
              </a:rPr>
              <a:t>🛡️  Autorización por scopes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0815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8F0"/>
                </a:solidFill>
              </a:rPr>
              <a:t>🔥  Web Application Firewall (WAF)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33649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8F0"/>
                </a:solidFill>
              </a:rPr>
              <a:t>⚡  Circuit Breaker Pattern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36484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8F0"/>
                </a:solidFill>
              </a:rPr>
              <a:t>🔄  Replicación y Failover LLM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931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8F0"/>
                </a:solidFill>
              </a:rPr>
              <a:t>🏥  Health checks y Monitoreo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42153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8F0"/>
                </a:solidFill>
              </a:rPr>
              <a:t>💾  Disaster Recovery (RTO/RPO)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1325880"/>
            <a:ext cx="3931920" cy="3474720"/>
          </a:xfrm>
          <a:prstGeom prst="rect">
            <a:avLst/>
          </a:prstGeom>
          <a:solidFill>
            <a:srgbClr val="1A2838"/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846320" y="1325880"/>
            <a:ext cx="393192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5029200" y="14173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5A623"/>
                </a:solidFill>
              </a:rPr>
              <a:t>T6 · Capítulo 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17373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y</a:t>
            </a:r>
            <a:endParaRPr lang="en-US" sz="2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Documentación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0" y="2514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8F0"/>
                </a:solidFill>
              </a:rPr>
              <a:t>📋  ADR (Architecture Decision Records)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0" y="27980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8F0"/>
                </a:solidFill>
              </a:rPr>
              <a:t>🗺️  Modelo C4 (Context→Code)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0" y="30815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8F0"/>
                </a:solidFill>
              </a:rPr>
              <a:t>📄  RFC: Request for Comments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0" y="33649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8F0"/>
                </a:solidFill>
              </a:rPr>
              <a:t>📊  Análisis de costos TCO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0" y="36484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8F0"/>
                </a:solidFill>
              </a:rPr>
              <a:t>📐  PRD: Product Requirements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0" y="3931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8F0"/>
                </a:solidFill>
              </a:rPr>
              <a:t>💰  Sensibilidad y proyección 24m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029200" y="42153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8F0"/>
                </a:solidFill>
              </a:rPr>
              <a:t>🏗️  Documentación como código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de Estudio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95AA"/>
                </a:solidFill>
              </a:rPr>
              <a:t>API LLM Empresarial — Sistema que construiremos durante la sesión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2011680" cy="822960"/>
          </a:xfrm>
          <a:prstGeom prst="rect">
            <a:avLst/>
          </a:prstGeom>
          <a:solidFill>
            <a:srgbClr val="223548"/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201168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365760" y="13898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React Frontend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17739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5AA"/>
                </a:solidFill>
              </a:rPr>
              <a:t>Vite 6 + JWT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0" y="1280160"/>
            <a:ext cx="2011680" cy="822960"/>
          </a:xfrm>
          <a:prstGeom prst="rect">
            <a:avLst/>
          </a:prstGeom>
          <a:solidFill>
            <a:srgbClr val="223548"/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0" y="1280160"/>
            <a:ext cx="2011680" cy="4572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2834640" y="13898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FastAPI Backend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17739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5AA"/>
                </a:solidFill>
              </a:rPr>
              <a:t>Auth + WAF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03520" y="1280160"/>
            <a:ext cx="2011680" cy="822960"/>
          </a:xfrm>
          <a:prstGeom prst="rect">
            <a:avLst/>
          </a:prstGeom>
          <a:solidFill>
            <a:srgbClr val="223548"/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303520" y="1280160"/>
            <a:ext cx="201168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394960" y="13898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Ollama LLM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394960" y="17739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5AA"/>
                </a:solidFill>
              </a:rPr>
              <a:t>Local / Cloud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49440" y="1280160"/>
            <a:ext cx="1828800" cy="822960"/>
          </a:xfrm>
          <a:prstGeom prst="rect">
            <a:avLst/>
          </a:prstGeom>
          <a:solidFill>
            <a:srgbClr val="223548"/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949440" y="1280160"/>
            <a:ext cx="1828800" cy="45720"/>
          </a:xfrm>
          <a:prstGeom prst="rect">
            <a:avLst/>
          </a:prstGeom>
          <a:solidFill>
            <a:srgbClr val="7A95AA"/>
          </a:solidFill>
          <a:ln w="12700">
            <a:solidFill>
              <a:srgbClr val="7A95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7040880" y="13898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Audit Logger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040880" y="17739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5AA"/>
                </a:solidFill>
              </a:rPr>
              <a:t>SHA-256 Chain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0" y="1691640"/>
            <a:ext cx="457200" cy="0"/>
          </a:xfrm>
          <a:prstGeom prst="line">
            <a:avLst/>
          </a:prstGeom>
          <a:noFill/>
          <a:ln w="19050">
            <a:solidFill>
              <a:srgbClr val="2A3F54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54880" y="1691640"/>
            <a:ext cx="548640" cy="0"/>
          </a:xfrm>
          <a:prstGeom prst="line">
            <a:avLst/>
          </a:prstGeom>
          <a:noFill/>
          <a:ln w="19050">
            <a:solidFill>
              <a:srgbClr val="2A3F54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675120" y="1691640"/>
            <a:ext cx="274320" cy="0"/>
          </a:xfrm>
          <a:prstGeom prst="line">
            <a:avLst/>
          </a:prstGeom>
          <a:noFill/>
          <a:ln w="19050">
            <a:solidFill>
              <a:srgbClr val="2A3F54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457200" y="2331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D4FF"/>
                </a:solidFill>
              </a:rPr>
              <a:t>CAPAS DE SEGURIDAD (T5)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2651760"/>
            <a:ext cx="1280160" cy="502920"/>
          </a:xfrm>
          <a:prstGeom prst="rect">
            <a:avLst/>
          </a:prstGeom>
          <a:solidFill>
            <a:srgbClr val="1A2838"/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65760" y="2651760"/>
            <a:ext cx="45720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457200" y="2651760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8F0"/>
                </a:solidFill>
              </a:rPr>
              <a:t>Rate Limiting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783080" y="2651760"/>
            <a:ext cx="1280160" cy="502920"/>
          </a:xfrm>
          <a:prstGeom prst="rect">
            <a:avLst/>
          </a:prstGeom>
          <a:solidFill>
            <a:srgbClr val="1A2838"/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783080" y="2651760"/>
            <a:ext cx="45720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1874520" y="2651760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8F0"/>
                </a:solidFill>
              </a:rPr>
              <a:t>WAF / Escaneo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0" y="2651760"/>
            <a:ext cx="1280160" cy="502920"/>
          </a:xfrm>
          <a:prstGeom prst="rect">
            <a:avLst/>
          </a:prstGeom>
          <a:solidFill>
            <a:srgbClr val="1A2838"/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200400" y="2651760"/>
            <a:ext cx="45720" cy="50292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3291840" y="2651760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8F0"/>
                </a:solidFill>
              </a:rPr>
              <a:t>JWT Auth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17720" y="2651760"/>
            <a:ext cx="1280160" cy="502920"/>
          </a:xfrm>
          <a:prstGeom prst="rect">
            <a:avLst/>
          </a:prstGeom>
          <a:solidFill>
            <a:srgbClr val="1A2838"/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617720" y="2651760"/>
            <a:ext cx="45720" cy="50292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4709160" y="2651760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8F0"/>
                </a:solidFill>
              </a:rPr>
              <a:t>Scope Check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035040" y="2651760"/>
            <a:ext cx="1280160" cy="502920"/>
          </a:xfrm>
          <a:prstGeom prst="rect">
            <a:avLst/>
          </a:prstGeom>
          <a:solidFill>
            <a:srgbClr val="1A2838"/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035040" y="2651760"/>
            <a:ext cx="4572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6126480" y="2651760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8F0"/>
                </a:solidFill>
              </a:rPr>
              <a:t>Circuit Breaker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452360" y="2651760"/>
            <a:ext cx="1280160" cy="502920"/>
          </a:xfrm>
          <a:prstGeom prst="rect">
            <a:avLst/>
          </a:prstGeom>
          <a:solidFill>
            <a:srgbClr val="1A2838"/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452360" y="2651760"/>
            <a:ext cx="45720" cy="502920"/>
          </a:xfrm>
          <a:prstGeom prst="rect">
            <a:avLst/>
          </a:prstGeom>
          <a:solidFill>
            <a:srgbClr val="7A95AA"/>
          </a:solidFill>
          <a:ln w="12700">
            <a:solidFill>
              <a:srgbClr val="7A95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7543800" y="2651760"/>
            <a:ext cx="1170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8F0"/>
                </a:solidFill>
              </a:rPr>
              <a:t>Audit Log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3337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A623"/>
                </a:solidFill>
              </a:rPr>
              <a:t>ARTEFACTOS DE DOCUMENTACIÓN (T6)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" y="3657600"/>
            <a:ext cx="1280160" cy="457200"/>
          </a:xfrm>
          <a:prstGeom prst="rect">
            <a:avLst/>
          </a:prstGeom>
          <a:solidFill>
            <a:srgbClr val="1A2838"/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365760" y="3657600"/>
            <a:ext cx="45720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 txBox="1"/>
          <p:nvPr/>
        </p:nvSpPr>
        <p:spPr>
          <a:xfrm>
            <a:off x="457200" y="365760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8F0"/>
                </a:solidFill>
              </a:rPr>
              <a:t>ADR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783080" y="3657600"/>
            <a:ext cx="1280160" cy="457200"/>
          </a:xfrm>
          <a:prstGeom prst="rect">
            <a:avLst/>
          </a:prstGeom>
          <a:solidFill>
            <a:srgbClr val="1A2838"/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783080" y="3657600"/>
            <a:ext cx="45720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 txBox="1"/>
          <p:nvPr/>
        </p:nvSpPr>
        <p:spPr>
          <a:xfrm>
            <a:off x="1874520" y="365760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8F0"/>
                </a:solidFill>
              </a:rPr>
              <a:t>RFC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200400" y="3657600"/>
            <a:ext cx="1280160" cy="457200"/>
          </a:xfrm>
          <a:prstGeom prst="rect">
            <a:avLst/>
          </a:prstGeom>
          <a:solidFill>
            <a:srgbClr val="1A2838"/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3200400" y="3657600"/>
            <a:ext cx="45720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 txBox="1"/>
          <p:nvPr/>
        </p:nvSpPr>
        <p:spPr>
          <a:xfrm>
            <a:off x="3291840" y="365760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8F0"/>
                </a:solidFill>
              </a:rPr>
              <a:t>C4 Model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617720" y="3657600"/>
            <a:ext cx="1280160" cy="457200"/>
          </a:xfrm>
          <a:prstGeom prst="rect">
            <a:avLst/>
          </a:prstGeom>
          <a:solidFill>
            <a:srgbClr val="1A2838"/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4617720" y="3657600"/>
            <a:ext cx="45720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 txBox="1"/>
          <p:nvPr/>
        </p:nvSpPr>
        <p:spPr>
          <a:xfrm>
            <a:off x="4709160" y="365760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8F0"/>
                </a:solidFill>
              </a:rPr>
              <a:t>PRD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035040" y="3657600"/>
            <a:ext cx="1280160" cy="457200"/>
          </a:xfrm>
          <a:prstGeom prst="rect">
            <a:avLst/>
          </a:prstGeom>
          <a:solidFill>
            <a:srgbClr val="1A2838"/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6035040" y="3657600"/>
            <a:ext cx="45720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 txBox="1"/>
          <p:nvPr/>
        </p:nvSpPr>
        <p:spPr>
          <a:xfrm>
            <a:off x="6126480" y="365760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8F0"/>
                </a:solidFill>
              </a:rPr>
              <a:t>TCO Analysis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452360" y="3657600"/>
            <a:ext cx="1280160" cy="457200"/>
          </a:xfrm>
          <a:prstGeom prst="rect">
            <a:avLst/>
          </a:prstGeom>
          <a:solidFill>
            <a:srgbClr val="1A2838"/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7452360" y="3657600"/>
            <a:ext cx="45720" cy="457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 txBox="1"/>
          <p:nvPr/>
        </p:nvSpPr>
        <p:spPr>
          <a:xfrm>
            <a:off x="7543800" y="365760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8F0"/>
                </a:solidFill>
              </a:rPr>
              <a:t>Runbook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Aprendizaje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95AA"/>
                </a:solidFill>
              </a:rPr>
              <a:t>Al finalizar esta sesión, el estudiante será capaz de: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502920" cy="411480"/>
          </a:xfrm>
          <a:prstGeom prst="rect">
            <a:avLst/>
          </a:prstGeom>
          <a:solidFill>
            <a:srgbClr val="00D4FF">
              <a:alpha val="15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365760" y="123444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FF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25272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8F0"/>
                </a:solidFill>
              </a:rPr>
              <a:t>Implementar autenticación JWT con scopes y refresh tokens en una API productiva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773936"/>
            <a:ext cx="502920" cy="411480"/>
          </a:xfrm>
          <a:prstGeom prst="rect">
            <a:avLst/>
          </a:prstGeom>
          <a:solidFill>
            <a:srgbClr val="00D4FF">
              <a:alpha val="15000"/>
            </a:srgbClr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65760" y="1773936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FF"/>
                </a:solidFill>
              </a:rPr>
              <a:t>02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1792224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8F0"/>
                </a:solidFill>
              </a:rPr>
              <a:t>Diseñar un WAF simulado capaz de detectar prompt injection, SQL injection y XSS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313432"/>
            <a:ext cx="502920" cy="411480"/>
          </a:xfrm>
          <a:prstGeom prst="rect">
            <a:avLst/>
          </a:prstGeom>
          <a:solidFill>
            <a:srgbClr val="00E676">
              <a:alpha val="15000"/>
            </a:srgbClr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365760" y="231343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676"/>
                </a:solidFill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233172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8F0"/>
                </a:solidFill>
              </a:rPr>
              <a:t>Aplicar el Circuit Breaker pattern para garantizar resiliencia ante fallos del LLM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2852928"/>
            <a:ext cx="502920" cy="411480"/>
          </a:xfrm>
          <a:prstGeom prst="rect">
            <a:avLst/>
          </a:prstGeom>
          <a:solidFill>
            <a:srgbClr val="00E676">
              <a:alpha val="15000"/>
            </a:srgbClr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365760" y="285292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676"/>
                </a:solidFill>
              </a:rPr>
              <a:t>04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2871216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8F0"/>
                </a:solidFill>
              </a:rPr>
              <a:t>Diseñar una estrategia de Disaster Recovery con RTO/RPO para sistemas de IA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392424"/>
            <a:ext cx="502920" cy="411480"/>
          </a:xfrm>
          <a:prstGeom prst="rect">
            <a:avLst/>
          </a:prstGeom>
          <a:solidFill>
            <a:srgbClr val="F5A623">
              <a:alpha val="15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365760" y="3392424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</a:rPr>
              <a:t>05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341071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8F0"/>
                </a:solidFill>
              </a:rPr>
              <a:t>Redactar ADRs y RFCs siguiendo los estándares de la industria tecnológica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3931920"/>
            <a:ext cx="502920" cy="411480"/>
          </a:xfrm>
          <a:prstGeom prst="rect">
            <a:avLst/>
          </a:prstGeom>
          <a:solidFill>
            <a:srgbClr val="F5A623">
              <a:alpha val="15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365760" y="39319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</a:rPr>
              <a:t>06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395020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8F0"/>
                </a:solidFill>
              </a:rPr>
              <a:t>Construir un modelo C4 completo (Context → Containers → Components → Code)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4471416"/>
            <a:ext cx="502920" cy="411480"/>
          </a:xfrm>
          <a:prstGeom prst="rect">
            <a:avLst/>
          </a:prstGeom>
          <a:solidFill>
            <a:srgbClr val="7A95AA">
              <a:alpha val="15000"/>
            </a:srgbClr>
          </a:solidFill>
          <a:ln w="12700">
            <a:solidFill>
              <a:srgbClr val="7A95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365760" y="4471416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95AA"/>
                </a:solidFill>
              </a:rPr>
              <a:t>07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005840" y="4489704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0E8F0"/>
                </a:solidFill>
              </a:rPr>
              <a:t>Calcular el TCO de 24 meses y realizar análisis de sensibilidad por proveedor LLM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64592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342900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rgbClr val="00D4FF"/>
                </a:solidFill>
              </a:rPr>
              <a:t>CAPÍTULO 2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75564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Tema 5</a:t>
            </a:r>
            <a:endParaRPr lang="en-US" sz="5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E0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y Alta Disponibilidad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5478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5AA"/>
                </a:solidFill>
              </a:rPr>
              <a:t>JWT · OAuth2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121408" y="35478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5AA"/>
                </a:solidFill>
              </a:rPr>
              <a:t>WAF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785616" y="35478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5AA"/>
                </a:solidFill>
              </a:rPr>
              <a:t>Circuit Breaker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49824" y="35478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5AA"/>
                </a:solidFill>
              </a:rPr>
              <a:t>Failover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114032" y="35478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5AA"/>
                </a:solidFill>
              </a:rPr>
              <a:t>DR / RTO·RPO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 Web Token (JWT)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95AA"/>
                </a:solidFill>
              </a:rPr>
              <a:t>Estándar RFC 7519 — Representación compacta de claims entre dos partes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D4FF"/>
                </a:solidFill>
              </a:rPr>
              <a:t>ANATOMÍA DE UN JWT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371600" cy="548640"/>
          </a:xfrm>
          <a:prstGeom prst="rect">
            <a:avLst/>
          </a:prstGeom>
          <a:solidFill>
            <a:srgbClr val="FF5252">
              <a:alpha val="25000"/>
            </a:srgbClr>
          </a:solidFill>
          <a:ln w="1905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57200" y="14630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5252"/>
                </a:solidFill>
              </a:rPr>
              <a:t>HEADER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048256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5AA"/>
                </a:solidFill>
              </a:rPr>
              <a:t>Algoritmo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A95AA"/>
                </a:solidFill>
              </a:rPr>
              <a:t>+ tipo de token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65960" y="1463040"/>
            <a:ext cx="2560320" cy="548640"/>
          </a:xfrm>
          <a:prstGeom prst="rect">
            <a:avLst/>
          </a:prstGeom>
          <a:solidFill>
            <a:srgbClr val="F5A623">
              <a:alpha val="25000"/>
            </a:srgbClr>
          </a:solidFill>
          <a:ln w="1905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1965960" y="1463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</a:rPr>
              <a:t>PAYLOAD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011680" y="204825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5AA"/>
                </a:solidFill>
              </a:rPr>
              <a:t>Claims: sub, exp,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A95AA"/>
                </a:solidFill>
              </a:rPr>
              <a:t>scopes, iat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463040"/>
            <a:ext cx="1828800" cy="548640"/>
          </a:xfrm>
          <a:prstGeom prst="rect">
            <a:avLst/>
          </a:prstGeom>
          <a:solidFill>
            <a:srgbClr val="00D4FF">
              <a:alpha val="25000"/>
            </a:srgbClr>
          </a:solidFill>
          <a:ln w="1905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663440" y="1463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FF"/>
                </a:solidFill>
              </a:rPr>
              <a:t>SIGNATURE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2048256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5AA"/>
                </a:solidFill>
              </a:rPr>
              <a:t>HMAC-SHA256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A95AA"/>
                </a:solidFill>
              </a:rPr>
              <a:t>(Header + Payload + Secret)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549908" y="146304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.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4247388" y="146304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.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2697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E676"/>
                </a:solidFill>
              </a:rPr>
              <a:t>OAUTH2 PASSWORD FLOW (RFC 6749 §4.3)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063240"/>
            <a:ext cx="822960" cy="868680"/>
          </a:xfrm>
          <a:prstGeom prst="rect">
            <a:avLst/>
          </a:prstGeom>
          <a:solidFill>
            <a:srgbClr val="223548"/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365760" y="3063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E8F0"/>
                </a:solidFill>
              </a:rPr>
              <a:t>1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02336" y="3337560"/>
            <a:ext cx="7498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5AA"/>
                </a:solidFill>
              </a:rPr>
              <a:t>Usuario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A95AA"/>
                </a:solidFill>
              </a:rPr>
              <a:t>envía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A95AA"/>
                </a:solidFill>
              </a:rPr>
              <a:t>credenciales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435608" y="3291840"/>
            <a:ext cx="548640" cy="0"/>
          </a:xfrm>
          <a:prstGeom prst="line">
            <a:avLst/>
          </a:prstGeom>
          <a:noFill/>
          <a:ln w="19050">
            <a:solidFill>
              <a:srgbClr val="2A3F54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322576" y="3063240"/>
            <a:ext cx="822960" cy="868680"/>
          </a:xfrm>
          <a:prstGeom prst="rect">
            <a:avLst/>
          </a:prstGeom>
          <a:solidFill>
            <a:srgbClr val="223548"/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2322576" y="3063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E8F0"/>
                </a:solidFill>
              </a:rPr>
              <a:t>2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2359152" y="3337560"/>
            <a:ext cx="7498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5AA"/>
                </a:solidFill>
              </a:rPr>
              <a:t>Servidor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A95AA"/>
                </a:solidFill>
              </a:rPr>
              <a:t>valida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A95AA"/>
                </a:solidFill>
              </a:rPr>
              <a:t>password hash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92424" y="3291840"/>
            <a:ext cx="548640" cy="0"/>
          </a:xfrm>
          <a:prstGeom prst="line">
            <a:avLst/>
          </a:prstGeom>
          <a:noFill/>
          <a:ln w="19050">
            <a:solidFill>
              <a:srgbClr val="2A3F54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279392" y="3063240"/>
            <a:ext cx="822960" cy="868680"/>
          </a:xfrm>
          <a:prstGeom prst="rect">
            <a:avLst/>
          </a:prstGeom>
          <a:solidFill>
            <a:srgbClr val="223548"/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4279392" y="3063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FF"/>
                </a:solidFill>
              </a:rPr>
              <a:t>3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315968" y="3337560"/>
            <a:ext cx="7498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5AA"/>
                </a:solidFill>
              </a:rPr>
              <a:t>Genera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A95AA"/>
                </a:solidFill>
              </a:rPr>
              <a:t>Access Token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A95AA"/>
                </a:solidFill>
              </a:rPr>
              <a:t>+ Refresh Token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349240" y="3291840"/>
            <a:ext cx="548640" cy="0"/>
          </a:xfrm>
          <a:prstGeom prst="line">
            <a:avLst/>
          </a:prstGeom>
          <a:noFill/>
          <a:ln w="19050">
            <a:solidFill>
              <a:srgbClr val="2A3F54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236208" y="3063240"/>
            <a:ext cx="822960" cy="868680"/>
          </a:xfrm>
          <a:prstGeom prst="rect">
            <a:avLst/>
          </a:prstGeom>
          <a:solidFill>
            <a:srgbClr val="223548"/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6236208" y="3063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E8F0"/>
                </a:solidFill>
              </a:rPr>
              <a:t>4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272784" y="3337560"/>
            <a:ext cx="7498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5AA"/>
                </a:solidFill>
              </a:rPr>
              <a:t>Cliente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A95AA"/>
                </a:solidFill>
              </a:rPr>
              <a:t>guarda token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A95AA"/>
                </a:solidFill>
              </a:rPr>
              <a:t>seguro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306056" y="3291840"/>
            <a:ext cx="548640" cy="0"/>
          </a:xfrm>
          <a:prstGeom prst="line">
            <a:avLst/>
          </a:prstGeom>
          <a:noFill/>
          <a:ln w="19050">
            <a:solidFill>
              <a:srgbClr val="2A3F54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193024" y="3063240"/>
            <a:ext cx="822960" cy="868680"/>
          </a:xfrm>
          <a:prstGeom prst="rect">
            <a:avLst/>
          </a:prstGeom>
          <a:solidFill>
            <a:srgbClr val="223548"/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8193024" y="3063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676"/>
                </a:solidFill>
              </a:rPr>
              <a:t>5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0" y="3337560"/>
            <a:ext cx="7498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5AA"/>
                </a:solidFill>
              </a:rPr>
              <a:t>Cada request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A95AA"/>
                </a:solidFill>
              </a:rPr>
              <a:t>lleva Bearer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A95AA"/>
                </a:solidFill>
              </a:rPr>
              <a:t>token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41148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D4FF"/>
                </a:solidFill>
              </a:rPr>
              <a:t>Access Token: 30 min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7200" y="4407408"/>
            <a:ext cx="1828800" cy="12801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4572000" y="4114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A623"/>
                </a:solidFill>
              </a:rPr>
              <a:t>Refresh Token: 7 días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0" y="4407408"/>
            <a:ext cx="4114800" cy="12801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Autorización por Scopes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95AA"/>
                </a:solidFill>
              </a:rPr>
              <a:t>Control de acceso granular — principio de mínimo privilegio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D4FF"/>
                </a:solidFill>
              </a:rPr>
              <a:t>MODELO DE SCOPES DEL SISTEMA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1188720" cy="411480"/>
          </a:xfrm>
          <a:prstGeom prst="rect">
            <a:avLst/>
          </a:prstGeom>
          <a:solidFill>
            <a:srgbClr val="223548"/>
          </a:solidFill>
          <a:ln w="6350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38912" y="14630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</a:rPr>
              <a:t>Scope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554480" y="1463040"/>
            <a:ext cx="2560320" cy="411480"/>
          </a:xfrm>
          <a:prstGeom prst="rect">
            <a:avLst/>
          </a:prstGeom>
          <a:solidFill>
            <a:srgbClr val="223548"/>
          </a:solidFill>
          <a:ln w="6350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627632" y="14630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</a:rPr>
              <a:t>Descripción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0" y="1463040"/>
            <a:ext cx="2743200" cy="411480"/>
          </a:xfrm>
          <a:prstGeom prst="rect">
            <a:avLst/>
          </a:prstGeom>
          <a:solidFill>
            <a:srgbClr val="223548"/>
          </a:solidFill>
          <a:ln w="6350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187952" y="14630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</a:rPr>
              <a:t>Endpoints permitidos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0" y="1463040"/>
            <a:ext cx="1645920" cy="411480"/>
          </a:xfrm>
          <a:prstGeom prst="rect">
            <a:avLst/>
          </a:prstGeom>
          <a:solidFill>
            <a:srgbClr val="223548"/>
          </a:solidFill>
          <a:ln w="6350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931152" y="1463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</a:rPr>
              <a:t>Usuario tipo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1874520"/>
            <a:ext cx="1188720" cy="411480"/>
          </a:xfrm>
          <a:prstGeom prst="rect">
            <a:avLst/>
          </a:prstGeom>
          <a:solidFill>
            <a:srgbClr val="1A2838"/>
          </a:solidFill>
          <a:ln w="6350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38912" y="18745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676"/>
                </a:solidFill>
              </a:rPr>
              <a:t>read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554480" y="1874520"/>
            <a:ext cx="2560320" cy="411480"/>
          </a:xfrm>
          <a:prstGeom prst="rect">
            <a:avLst/>
          </a:prstGeom>
          <a:solidFill>
            <a:srgbClr val="1A2838"/>
          </a:solidFill>
          <a:ln w="6350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1627632" y="1874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8F0"/>
                </a:solidFill>
              </a:rPr>
              <a:t>Consultar datos y chat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0" y="1874520"/>
            <a:ext cx="2743200" cy="411480"/>
          </a:xfrm>
          <a:prstGeom prst="rect">
            <a:avLst/>
          </a:prstGeom>
          <a:solidFill>
            <a:srgbClr val="1A2838"/>
          </a:solidFill>
          <a:ln w="6350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4187952" y="18745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8F0"/>
                </a:solidFill>
              </a:rPr>
              <a:t>/api/chat, /api/health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0" y="1874520"/>
            <a:ext cx="1645920" cy="411480"/>
          </a:xfrm>
          <a:prstGeom prst="rect">
            <a:avLst/>
          </a:prstGeom>
          <a:solidFill>
            <a:srgbClr val="1A2838"/>
          </a:solidFill>
          <a:ln w="6350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931152" y="18745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8F0"/>
                </a:solidFill>
              </a:rPr>
              <a:t>Usuario básico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2286000"/>
            <a:ext cx="1188720" cy="411480"/>
          </a:xfrm>
          <a:prstGeom prst="rect">
            <a:avLst/>
          </a:prstGeom>
          <a:solidFill>
            <a:srgbClr val="1A2838"/>
          </a:solidFill>
          <a:ln w="6350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438912" y="22860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</a:rPr>
              <a:t>write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554480" y="2286000"/>
            <a:ext cx="2560320" cy="411480"/>
          </a:xfrm>
          <a:prstGeom prst="rect">
            <a:avLst/>
          </a:prstGeom>
          <a:solidFill>
            <a:srgbClr val="1A2838"/>
          </a:solidFill>
          <a:ln w="6350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1627632" y="2286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8F0"/>
                </a:solidFill>
              </a:rPr>
              <a:t>Modificar configuración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14800" y="2286000"/>
            <a:ext cx="2743200" cy="411480"/>
          </a:xfrm>
          <a:prstGeom prst="rect">
            <a:avLst/>
          </a:prstGeom>
          <a:solidFill>
            <a:srgbClr val="1A2838"/>
          </a:solidFill>
          <a:ln w="6350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4187952" y="22860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8F0"/>
                </a:solidFill>
              </a:rPr>
              <a:t>/api/chat, /api/config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858000" y="2286000"/>
            <a:ext cx="1645920" cy="411480"/>
          </a:xfrm>
          <a:prstGeom prst="rect">
            <a:avLst/>
          </a:prstGeom>
          <a:solidFill>
            <a:srgbClr val="1A2838"/>
          </a:solidFill>
          <a:ln w="6350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6931152" y="22860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8F0"/>
                </a:solidFill>
              </a:rPr>
              <a:t>Usuario avanzado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2697480"/>
            <a:ext cx="1188720" cy="411480"/>
          </a:xfrm>
          <a:prstGeom prst="rect">
            <a:avLst/>
          </a:prstGeom>
          <a:solidFill>
            <a:srgbClr val="1A2838"/>
          </a:solidFill>
          <a:ln w="6350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438912" y="26974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5252"/>
                </a:solidFill>
              </a:rPr>
              <a:t>admin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554480" y="2697480"/>
            <a:ext cx="2560320" cy="411480"/>
          </a:xfrm>
          <a:prstGeom prst="rect">
            <a:avLst/>
          </a:prstGeom>
          <a:solidFill>
            <a:srgbClr val="1A2838"/>
          </a:solidFill>
          <a:ln w="6350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1627632" y="2697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8F0"/>
                </a:solidFill>
              </a:rPr>
              <a:t>Acceso total + auditoría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114800" y="2697480"/>
            <a:ext cx="2743200" cy="411480"/>
          </a:xfrm>
          <a:prstGeom prst="rect">
            <a:avLst/>
          </a:prstGeom>
          <a:solidFill>
            <a:srgbClr val="1A2838"/>
          </a:solidFill>
          <a:ln w="6350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4187952" y="26974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8F0"/>
                </a:solidFill>
              </a:rPr>
              <a:t>Todos + /api/audit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858000" y="2697480"/>
            <a:ext cx="1645920" cy="411480"/>
          </a:xfrm>
          <a:prstGeom prst="rect">
            <a:avLst/>
          </a:prstGeom>
          <a:solidFill>
            <a:srgbClr val="1A2838"/>
          </a:solidFill>
          <a:ln w="6350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6931152" y="26974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8F0"/>
                </a:solidFill>
              </a:rPr>
              <a:t>Administrador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2880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5252"/>
                </a:solidFill>
              </a:rPr>
              <a:t>ATAQUES COMUNES A JWT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3200400"/>
            <a:ext cx="4114800" cy="640080"/>
          </a:xfrm>
          <a:prstGeom prst="rect">
            <a:avLst/>
          </a:prstGeom>
          <a:solidFill>
            <a:srgbClr val="1A2838"/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65760" y="3200400"/>
            <a:ext cx="45720" cy="640080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502920" y="3236976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252"/>
                </a:solidFill>
              </a:rPr>
              <a:t>Algorithm Confusion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502920" y="3511296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5AA"/>
                </a:solidFill>
              </a:rPr>
              <a:t>Cambiar HS256→RS256 para bypass. Mitigación: fijar algoritmo en validación.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663440" y="3200400"/>
            <a:ext cx="4114800" cy="640080"/>
          </a:xfrm>
          <a:prstGeom prst="rect">
            <a:avLst/>
          </a:prstGeom>
          <a:solidFill>
            <a:srgbClr val="1A2838"/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663440" y="3200400"/>
            <a:ext cx="45720" cy="640080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 txBox="1"/>
          <p:nvPr/>
        </p:nvSpPr>
        <p:spPr>
          <a:xfrm>
            <a:off x="4800600" y="3236976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252"/>
                </a:solidFill>
              </a:rPr>
              <a:t>None Algorithm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4800600" y="3511296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5AA"/>
                </a:solidFill>
              </a:rPr>
              <a:t>Eliminar firma con alg:none. Mitigación: rechazar tokens sin firma.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65760" y="3931920"/>
            <a:ext cx="4114800" cy="640080"/>
          </a:xfrm>
          <a:prstGeom prst="rect">
            <a:avLst/>
          </a:prstGeom>
          <a:solidFill>
            <a:srgbClr val="1A2838"/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365760" y="3931920"/>
            <a:ext cx="45720" cy="640080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 txBox="1"/>
          <p:nvPr/>
        </p:nvSpPr>
        <p:spPr>
          <a:xfrm>
            <a:off x="502920" y="3968496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252"/>
                </a:solidFill>
              </a:rPr>
              <a:t>Weak Secret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502920" y="4242816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5AA"/>
                </a:solidFill>
              </a:rPr>
              <a:t>Fuerza bruta si el secret &lt; 256 bits. Mitigación: secrets.token_hex(32).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663440" y="3931920"/>
            <a:ext cx="4114800" cy="640080"/>
          </a:xfrm>
          <a:prstGeom prst="rect">
            <a:avLst/>
          </a:prstGeom>
          <a:solidFill>
            <a:srgbClr val="1A2838"/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4663440" y="3931920"/>
            <a:ext cx="45720" cy="640080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 txBox="1"/>
          <p:nvPr/>
        </p:nvSpPr>
        <p:spPr>
          <a:xfrm>
            <a:off x="4800600" y="3968496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252"/>
                </a:solidFill>
              </a:rPr>
              <a:t>Token Theft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4800600" y="4242816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5AA"/>
                </a:solidFill>
              </a:rPr>
              <a:t>Robo via XSS. Mitigación: httpOnly cookies + CSP headers.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Application Firewall (WAF)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95AA"/>
                </a:solidFill>
              </a:rPr>
              <a:t>Primera línea de defensa — filtra tráfico malicioso antes de que llegue al LLM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371600" cy="640080"/>
          </a:xfrm>
          <a:prstGeom prst="rect">
            <a:avLst/>
          </a:prstGeom>
          <a:solidFill>
            <a:srgbClr val="223548"/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274320" y="10972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E8F0"/>
                </a:solidFill>
              </a:rPr>
              <a:t>Request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E0E8F0"/>
                </a:solidFill>
              </a:rPr>
              <a:t>Entrante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45920" y="1417320"/>
            <a:ext cx="365760" cy="0"/>
          </a:xfrm>
          <a:prstGeom prst="line">
            <a:avLst/>
          </a:prstGeom>
          <a:noFill/>
          <a:ln w="19050">
            <a:solidFill>
              <a:srgbClr val="2A3F54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011680" y="1097280"/>
            <a:ext cx="1371600" cy="640080"/>
          </a:xfrm>
          <a:prstGeom prst="rect">
            <a:avLst/>
          </a:prstGeom>
          <a:solidFill>
            <a:srgbClr val="223548"/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2011680" y="10972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E8F0"/>
                </a:solidFill>
              </a:rPr>
              <a:t>Rate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E0E8F0"/>
                </a:solidFill>
              </a:rPr>
              <a:t>Limiter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1417320"/>
            <a:ext cx="365760" cy="0"/>
          </a:xfrm>
          <a:prstGeom prst="line">
            <a:avLst/>
          </a:prstGeom>
          <a:noFill/>
          <a:ln w="19050">
            <a:solidFill>
              <a:srgbClr val="2A3F54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749040" y="1097280"/>
            <a:ext cx="1371600" cy="640080"/>
          </a:xfrm>
          <a:prstGeom prst="rect">
            <a:avLst/>
          </a:prstGeom>
          <a:solidFill>
            <a:srgbClr val="F5A623"/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3749040" y="10972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923"/>
                </a:solidFill>
              </a:rPr>
              <a:t>WAF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F1923"/>
                </a:solidFill>
              </a:rPr>
              <a:t>Scanner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120640" y="1417320"/>
            <a:ext cx="365760" cy="0"/>
          </a:xfrm>
          <a:prstGeom prst="line">
            <a:avLst/>
          </a:prstGeom>
          <a:noFill/>
          <a:ln w="19050">
            <a:solidFill>
              <a:srgbClr val="2A3F54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86400" y="1097280"/>
            <a:ext cx="1371600" cy="640080"/>
          </a:xfrm>
          <a:prstGeom prst="rect">
            <a:avLst/>
          </a:prstGeom>
          <a:solidFill>
            <a:srgbClr val="223548"/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486400" y="10972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E8F0"/>
                </a:solidFill>
              </a:rPr>
              <a:t>Auth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E0E8F0"/>
                </a:solidFill>
              </a:rPr>
              <a:t>Middleware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0" y="1417320"/>
            <a:ext cx="365760" cy="0"/>
          </a:xfrm>
          <a:prstGeom prst="line">
            <a:avLst/>
          </a:prstGeom>
          <a:noFill/>
          <a:ln w="19050">
            <a:solidFill>
              <a:srgbClr val="2A3F54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223760" y="1097280"/>
            <a:ext cx="1371600" cy="640080"/>
          </a:xfrm>
          <a:prstGeom prst="rect">
            <a:avLst/>
          </a:prstGeom>
          <a:solidFill>
            <a:srgbClr val="223548"/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223760" y="10972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E8F0"/>
                </a:solidFill>
              </a:rPr>
              <a:t>LLM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E0E8F0"/>
                </a:solidFill>
              </a:rPr>
              <a:t>Backend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A623"/>
                </a:solidFill>
              </a:rPr>
              <a:t>REGLAS WAF IMPLEMENTADAS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267712"/>
            <a:ext cx="2697480" cy="685800"/>
          </a:xfrm>
          <a:prstGeom prst="rect">
            <a:avLst/>
          </a:prstGeom>
          <a:solidFill>
            <a:srgbClr val="1A2838"/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65760" y="2267712"/>
            <a:ext cx="45720" cy="685800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02920" y="2340864"/>
            <a:ext cx="502920" cy="228600"/>
          </a:xfrm>
          <a:prstGeom prst="rect">
            <a:avLst/>
          </a:prstGeom>
          <a:solidFill>
            <a:srgbClr val="FF5252">
              <a:alpha val="25000"/>
            </a:srgbClr>
          </a:solidFill>
          <a:ln w="9525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502920" y="2340864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5252"/>
                </a:solidFill>
              </a:rPr>
              <a:t>HIGH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26060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E8F0"/>
                </a:solidFill>
              </a:rPr>
              <a:t>Prompt Injection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27614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5AA"/>
                </a:solidFill>
              </a:rPr>
              <a:t>"Ignore previous instructions..."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46120" y="2267712"/>
            <a:ext cx="2697480" cy="685800"/>
          </a:xfrm>
          <a:prstGeom prst="rect">
            <a:avLst/>
          </a:prstGeom>
          <a:solidFill>
            <a:srgbClr val="1A2838"/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246120" y="2267712"/>
            <a:ext cx="45720" cy="685800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383280" y="2340864"/>
            <a:ext cx="502920" cy="228600"/>
          </a:xfrm>
          <a:prstGeom prst="rect">
            <a:avLst/>
          </a:prstGeom>
          <a:solidFill>
            <a:srgbClr val="FF5252">
              <a:alpha val="25000"/>
            </a:srgbClr>
          </a:solidFill>
          <a:ln w="9525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3383280" y="2340864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5252"/>
                </a:solidFill>
              </a:rPr>
              <a:t>HIGH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3383280" y="26060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E8F0"/>
                </a:solidFill>
              </a:rPr>
              <a:t>SQL Injection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3383280" y="27614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5AA"/>
                </a:solidFill>
              </a:rPr>
              <a:t>"'; DROP TABLE users; --"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26480" y="2267712"/>
            <a:ext cx="2697480" cy="685800"/>
          </a:xfrm>
          <a:prstGeom prst="rect">
            <a:avLst/>
          </a:prstGeom>
          <a:solidFill>
            <a:srgbClr val="1A2838"/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126480" y="2267712"/>
            <a:ext cx="45720" cy="685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263640" y="2340864"/>
            <a:ext cx="658368" cy="228600"/>
          </a:xfrm>
          <a:prstGeom prst="rect">
            <a:avLst/>
          </a:prstGeom>
          <a:solidFill>
            <a:srgbClr val="F5A623">
              <a:alpha val="25000"/>
            </a:srgbClr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6263640" y="2340864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</a:rPr>
              <a:t>MEDIUM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6263640" y="26060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E8F0"/>
                </a:solidFill>
              </a:rPr>
              <a:t>XSS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263640" y="27614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5AA"/>
                </a:solidFill>
              </a:rPr>
              <a:t>"&lt;script&gt;alert()&lt;/script&gt;"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3044952"/>
            <a:ext cx="2697480" cy="685800"/>
          </a:xfrm>
          <a:prstGeom prst="rect">
            <a:avLst/>
          </a:prstGeom>
          <a:solidFill>
            <a:srgbClr val="1A2838"/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65760" y="3044952"/>
            <a:ext cx="45720" cy="685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02920" y="3118104"/>
            <a:ext cx="658368" cy="228600"/>
          </a:xfrm>
          <a:prstGeom prst="rect">
            <a:avLst/>
          </a:prstGeom>
          <a:solidFill>
            <a:srgbClr val="F5A623">
              <a:alpha val="25000"/>
            </a:srgbClr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502920" y="3118104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</a:rPr>
              <a:t>MEDIUM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502920" y="33832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E8F0"/>
                </a:solidFill>
              </a:rPr>
              <a:t>Path Traversal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502920" y="353872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5AA"/>
                </a:solidFill>
              </a:rPr>
              <a:t>"../../etc/passwd"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246120" y="3044952"/>
            <a:ext cx="2697480" cy="685800"/>
          </a:xfrm>
          <a:prstGeom prst="rect">
            <a:avLst/>
          </a:prstGeom>
          <a:solidFill>
            <a:srgbClr val="1A2838"/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3246120" y="3044952"/>
            <a:ext cx="45720" cy="685800"/>
          </a:xfrm>
          <a:prstGeom prst="rect">
            <a:avLst/>
          </a:prstGeom>
          <a:solidFill>
            <a:srgbClr val="7A95AA"/>
          </a:solidFill>
          <a:ln w="12700">
            <a:solidFill>
              <a:srgbClr val="7A95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3383280" y="3118104"/>
            <a:ext cx="411480" cy="228600"/>
          </a:xfrm>
          <a:prstGeom prst="rect">
            <a:avLst/>
          </a:prstGeom>
          <a:solidFill>
            <a:srgbClr val="7A95AA">
              <a:alpha val="25000"/>
            </a:srgbClr>
          </a:solidFill>
          <a:ln w="9525">
            <a:solidFill>
              <a:srgbClr val="7A95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 txBox="1"/>
          <p:nvPr/>
        </p:nvSpPr>
        <p:spPr>
          <a:xfrm>
            <a:off x="3383280" y="3118104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A95AA"/>
                </a:solidFill>
              </a:rPr>
              <a:t>LOW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3383280" y="33832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E8F0"/>
                </a:solidFill>
              </a:rPr>
              <a:t>Data Leakage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3383280" y="353872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5AA"/>
                </a:solidFill>
              </a:rPr>
              <a:t>"sk-xxxx / Bearer token"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Circuit Breaker Pattern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95AA"/>
                </a:solidFill>
              </a:rPr>
              <a:t>Patrón de resiliencia que previene la cascada de fallos en sistemas distribuidos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0" y="1371600"/>
            <a:ext cx="1828800" cy="914400"/>
          </a:xfrm>
          <a:prstGeom prst="ellipse">
            <a:avLst/>
          </a:prstGeom>
          <a:solidFill>
            <a:srgbClr val="00E676">
              <a:alpha val="20000"/>
            </a:srgbClr>
          </a:solidFill>
          <a:ln w="254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1371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676"/>
                </a:solidFill>
              </a:rPr>
              <a:t>CERRADO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1874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5AA"/>
                </a:solidFill>
              </a:rPr>
              <a:t>Normal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A95AA"/>
                </a:solidFill>
              </a:rPr>
              <a:t>failures: 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1828800" cy="914400"/>
          </a:xfrm>
          <a:prstGeom prst="ellipse">
            <a:avLst/>
          </a:prstGeom>
          <a:solidFill>
            <a:srgbClr val="FF5252">
              <a:alpha val="20000"/>
            </a:srgbClr>
          </a:solidFill>
          <a:ln w="254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754880" y="1371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5252"/>
                </a:solidFill>
              </a:rPr>
              <a:t>ABIERTO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1874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5AA"/>
                </a:solidFill>
              </a:rPr>
              <a:t>Bloqueado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A95AA"/>
                </a:solidFill>
              </a:rPr>
              <a:t>recovery: 30s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834640" y="3108960"/>
            <a:ext cx="1828800" cy="914400"/>
          </a:xfrm>
          <a:prstGeom prst="ellipse">
            <a:avLst/>
          </a:prstGeom>
          <a:solidFill>
            <a:srgbClr val="F5A623">
              <a:alpha val="20000"/>
            </a:srgbClr>
          </a:solidFill>
          <a:ln w="254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2834640" y="31089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</a:rPr>
              <a:t>SEMI-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</a:rPr>
              <a:t>ABIERTO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834640" y="36118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5AA"/>
                </a:solidFill>
              </a:rPr>
              <a:t>Prueba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A95AA"/>
                </a:solidFill>
              </a:rPr>
              <a:t>1 request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0" y="1691640"/>
            <a:ext cx="2011680" cy="0"/>
          </a:xfrm>
          <a:prstGeom prst="line">
            <a:avLst/>
          </a:prstGeom>
          <a:noFill/>
          <a:ln w="19050">
            <a:solidFill>
              <a:srgbClr val="FF5252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2834640" y="1417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5252"/>
                </a:solidFill>
              </a:rPr>
              <a:t>≥5 fallos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03520" y="2286000"/>
            <a:ext cx="0" cy="82296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577840" y="25146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</a:rPr>
              <a:t>timeout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5A623"/>
                </a:solidFill>
              </a:rPr>
              <a:t>30s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834640" y="3520440"/>
            <a:ext cx="0" cy="0"/>
          </a:xfrm>
          <a:prstGeom prst="line">
            <a:avLst/>
          </a:prstGeom>
          <a:noFill/>
          <a:ln w="19050">
            <a:solidFill>
              <a:srgbClr val="00E676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1645920" y="32004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676"/>
                </a:solidFill>
              </a:rPr>
              <a:t>éxito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3520440"/>
            <a:ext cx="548640" cy="0"/>
          </a:xfrm>
          <a:prstGeom prst="line">
            <a:avLst/>
          </a:prstGeom>
          <a:noFill/>
          <a:ln w="19050">
            <a:solidFill>
              <a:srgbClr val="FF5252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5303520" y="32004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5252"/>
                </a:solidFill>
              </a:rPr>
              <a:t>fallo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2062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D4FF"/>
                </a:solidFill>
              </a:rPr>
              <a:t>PARÁMETROS DE CONFIGURACIÓN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480560"/>
            <a:ext cx="2697480" cy="502920"/>
          </a:xfrm>
          <a:prstGeom prst="rect">
            <a:avLst/>
          </a:prstGeom>
          <a:solidFill>
            <a:srgbClr val="1A2838"/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457200" y="44805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5AA"/>
                </a:solidFill>
              </a:rPr>
              <a:t>failure_threshold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7091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280160" y="470916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8F0"/>
                </a:solidFill>
              </a:rPr>
              <a:t>Fallos para ABRIR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46120" y="4480560"/>
            <a:ext cx="2697480" cy="502920"/>
          </a:xfrm>
          <a:prstGeom prst="rect">
            <a:avLst/>
          </a:prstGeom>
          <a:solidFill>
            <a:srgbClr val="1A2838"/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3337560" y="44805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5AA"/>
                </a:solidFill>
              </a:rPr>
              <a:t>recovery_timeout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3337560" y="47091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</a:rPr>
              <a:t>30s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160520" y="470916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8F0"/>
                </a:solidFill>
              </a:rPr>
              <a:t>Tiempo en ABIERTO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26480" y="4480560"/>
            <a:ext cx="2697480" cy="502920"/>
          </a:xfrm>
          <a:prstGeom prst="rect">
            <a:avLst/>
          </a:prstGeom>
          <a:solidFill>
            <a:srgbClr val="1A2838"/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6217920" y="44805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5AA"/>
                </a:solidFill>
              </a:rPr>
              <a:t>half_open_requests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217920" y="47091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</a:rPr>
              <a:t>1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040880" y="470916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8F0"/>
                </a:solidFill>
              </a:rPr>
              <a:t>Requests de prueba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Alta Disponibilidad y Disaster Recovery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95AA"/>
                </a:solidFill>
              </a:rPr>
              <a:t>Garantizar continuidad del servicio ante fallos parciales o totales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D4FF"/>
                </a:solidFill>
              </a:rPr>
              <a:t>CADENA DE FAILOVER LLM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468880" cy="914400"/>
          </a:xfrm>
          <a:prstGeom prst="rect">
            <a:avLst/>
          </a:prstGeom>
          <a:solidFill>
            <a:srgbClr val="223548"/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2468880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48640" y="148132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E676"/>
                </a:solidFill>
              </a:rPr>
              <a:t>1°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14813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Ollama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(local)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865376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5AA"/>
                </a:solidFill>
              </a:rPr>
              <a:t>0ms latencia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A95AA"/>
                </a:solidFill>
              </a:rPr>
              <a:t>$0 costo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26080" y="1874520"/>
            <a:ext cx="365760" cy="0"/>
          </a:xfrm>
          <a:prstGeom prst="line">
            <a:avLst/>
          </a:prstGeom>
          <a:noFill/>
          <a:ln w="19050">
            <a:solidFill>
              <a:srgbClr val="FF5252"/>
            </a:solidFill>
            <a:prstDash val="dash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2944368" y="171907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5252"/>
                </a:solidFill>
              </a:rPr>
              <a:t>FALLO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91840" y="1417320"/>
            <a:ext cx="2468880" cy="914400"/>
          </a:xfrm>
          <a:prstGeom prst="rect">
            <a:avLst/>
          </a:prstGeom>
          <a:solidFill>
            <a:srgbClr val="223548"/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91840" y="1417320"/>
            <a:ext cx="246888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3383280" y="148132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4FF"/>
                </a:solidFill>
              </a:rPr>
              <a:t>2°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840480" y="14813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Vertex AI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(GCP)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1865376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5AA"/>
                </a:solidFill>
              </a:rPr>
              <a:t>Backup primario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A95AA"/>
                </a:solidFill>
              </a:rPr>
              <a:t>SLA 99.9%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60720" y="1874520"/>
            <a:ext cx="365760" cy="0"/>
          </a:xfrm>
          <a:prstGeom prst="line">
            <a:avLst/>
          </a:prstGeom>
          <a:noFill/>
          <a:ln w="19050">
            <a:solidFill>
              <a:srgbClr val="FF5252"/>
            </a:solidFill>
            <a:prstDash val="dash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779008" y="171907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5252"/>
                </a:solidFill>
              </a:rPr>
              <a:t>FALLO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126480" y="1417320"/>
            <a:ext cx="2468880" cy="914400"/>
          </a:xfrm>
          <a:prstGeom prst="rect">
            <a:avLst/>
          </a:prstGeom>
          <a:solidFill>
            <a:srgbClr val="223548"/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126480" y="1417320"/>
            <a:ext cx="246888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217920" y="148132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A623"/>
                </a:solidFill>
              </a:rPr>
              <a:t>3°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675120" y="14813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OpenAI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(fallback)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1865376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5AA"/>
                </a:solidFill>
              </a:rPr>
              <a:t>Último recurso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A95AA"/>
                </a:solidFill>
              </a:rPr>
              <a:t>Pay-per-use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2487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A623"/>
                </a:solidFill>
              </a:rPr>
              <a:t>ESTRATEGIAS DE DISASTER RECOVERY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2816352"/>
            <a:ext cx="2286000" cy="347472"/>
          </a:xfrm>
          <a:prstGeom prst="rect">
            <a:avLst/>
          </a:prstGeom>
          <a:solidFill>
            <a:srgbClr val="223548"/>
          </a:solidFill>
          <a:ln w="6350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411480" y="281635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Estrategia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651760" y="2816352"/>
            <a:ext cx="1005840" cy="347472"/>
          </a:xfrm>
          <a:prstGeom prst="rect">
            <a:avLst/>
          </a:prstGeom>
          <a:solidFill>
            <a:srgbClr val="223548"/>
          </a:solidFill>
          <a:ln w="6350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2697480" y="281635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RTO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0" y="2816352"/>
            <a:ext cx="1005840" cy="347472"/>
          </a:xfrm>
          <a:prstGeom prst="rect">
            <a:avLst/>
          </a:prstGeom>
          <a:solidFill>
            <a:srgbClr val="223548"/>
          </a:solidFill>
          <a:ln w="6350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3703320" y="281635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RPO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2816352"/>
            <a:ext cx="640080" cy="347472"/>
          </a:xfrm>
          <a:prstGeom prst="rect">
            <a:avLst/>
          </a:prstGeom>
          <a:solidFill>
            <a:srgbClr val="223548"/>
          </a:solidFill>
          <a:ln w="6350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4709160" y="281635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Costo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303520" y="2816352"/>
            <a:ext cx="1828800" cy="347472"/>
          </a:xfrm>
          <a:prstGeom prst="rect">
            <a:avLst/>
          </a:prstGeom>
          <a:solidFill>
            <a:srgbClr val="223548"/>
          </a:solidFill>
          <a:ln w="6350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5349240" y="281635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Uso recomendado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3163824"/>
            <a:ext cx="2286000" cy="402336"/>
          </a:xfrm>
          <a:prstGeom prst="rect">
            <a:avLst/>
          </a:prstGeom>
          <a:solidFill>
            <a:srgbClr val="1A2838"/>
          </a:solidFill>
          <a:ln w="6350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411480" y="3163824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8F0"/>
                </a:solidFill>
              </a:rPr>
              <a:t>Backup &amp; Restore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651760" y="3163824"/>
            <a:ext cx="1005840" cy="402336"/>
          </a:xfrm>
          <a:prstGeom prst="rect">
            <a:avLst/>
          </a:prstGeom>
          <a:solidFill>
            <a:srgbClr val="1A2838"/>
          </a:solidFill>
          <a:ln w="6350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2697480" y="3163824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</a:rPr>
              <a:t>Horas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657600" y="3163824"/>
            <a:ext cx="1005840" cy="402336"/>
          </a:xfrm>
          <a:prstGeom prst="rect">
            <a:avLst/>
          </a:prstGeom>
          <a:solidFill>
            <a:srgbClr val="1A2838"/>
          </a:solidFill>
          <a:ln w="6350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3703320" y="3163824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E676"/>
                </a:solidFill>
              </a:rPr>
              <a:t>Horas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663440" y="3163824"/>
            <a:ext cx="640080" cy="402336"/>
          </a:xfrm>
          <a:prstGeom prst="rect">
            <a:avLst/>
          </a:prstGeom>
          <a:solidFill>
            <a:srgbClr val="1A2838"/>
          </a:solidFill>
          <a:ln w="6350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 txBox="1"/>
          <p:nvPr/>
        </p:nvSpPr>
        <p:spPr>
          <a:xfrm>
            <a:off x="4709160" y="3163824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8F0"/>
                </a:solidFill>
              </a:rPr>
              <a:t>$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303520" y="3163824"/>
            <a:ext cx="1828800" cy="402336"/>
          </a:xfrm>
          <a:prstGeom prst="rect">
            <a:avLst/>
          </a:prstGeom>
          <a:solidFill>
            <a:srgbClr val="1A2838"/>
          </a:solidFill>
          <a:ln w="6350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 txBox="1"/>
          <p:nvPr/>
        </p:nvSpPr>
        <p:spPr>
          <a:xfrm>
            <a:off x="5349240" y="316382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8F0"/>
                </a:solidFill>
              </a:rPr>
              <a:t>Dev / Test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65760" y="3584448"/>
            <a:ext cx="2286000" cy="402336"/>
          </a:xfrm>
          <a:prstGeom prst="rect">
            <a:avLst/>
          </a:prstGeom>
          <a:solidFill>
            <a:srgbClr val="0F1923"/>
          </a:solidFill>
          <a:ln w="6350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 txBox="1"/>
          <p:nvPr/>
        </p:nvSpPr>
        <p:spPr>
          <a:xfrm>
            <a:off x="411480" y="358444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8F0"/>
                </a:solidFill>
              </a:rPr>
              <a:t>Pilot Light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651760" y="3584448"/>
            <a:ext cx="1005840" cy="402336"/>
          </a:xfrm>
          <a:prstGeom prst="rect">
            <a:avLst/>
          </a:prstGeom>
          <a:solidFill>
            <a:srgbClr val="0F1923"/>
          </a:solidFill>
          <a:ln w="6350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 txBox="1"/>
          <p:nvPr/>
        </p:nvSpPr>
        <p:spPr>
          <a:xfrm>
            <a:off x="2697480" y="358444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</a:rPr>
              <a:t>~10 min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657600" y="3584448"/>
            <a:ext cx="1005840" cy="402336"/>
          </a:xfrm>
          <a:prstGeom prst="rect">
            <a:avLst/>
          </a:prstGeom>
          <a:solidFill>
            <a:srgbClr val="0F1923"/>
          </a:solidFill>
          <a:ln w="6350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 txBox="1"/>
          <p:nvPr/>
        </p:nvSpPr>
        <p:spPr>
          <a:xfrm>
            <a:off x="3703320" y="358444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E676"/>
                </a:solidFill>
              </a:rPr>
              <a:t>Minutos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663440" y="3584448"/>
            <a:ext cx="640080" cy="402336"/>
          </a:xfrm>
          <a:prstGeom prst="rect">
            <a:avLst/>
          </a:prstGeom>
          <a:solidFill>
            <a:srgbClr val="0F1923"/>
          </a:solidFill>
          <a:ln w="6350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 txBox="1"/>
          <p:nvPr/>
        </p:nvSpPr>
        <p:spPr>
          <a:xfrm>
            <a:off x="4709160" y="3584448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8F0"/>
                </a:solidFill>
              </a:rPr>
              <a:t>$$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303520" y="3584448"/>
            <a:ext cx="1828800" cy="402336"/>
          </a:xfrm>
          <a:prstGeom prst="rect">
            <a:avLst/>
          </a:prstGeom>
          <a:solidFill>
            <a:srgbClr val="0F1923"/>
          </a:solidFill>
          <a:ln w="6350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 txBox="1"/>
          <p:nvPr/>
        </p:nvSpPr>
        <p:spPr>
          <a:xfrm>
            <a:off x="5349240" y="358444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8F0"/>
                </a:solidFill>
              </a:rPr>
              <a:t>No crítico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365760" y="4005072"/>
            <a:ext cx="2286000" cy="402336"/>
          </a:xfrm>
          <a:prstGeom prst="rect">
            <a:avLst/>
          </a:prstGeom>
          <a:solidFill>
            <a:srgbClr val="1A2838"/>
          </a:solidFill>
          <a:ln w="6350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 txBox="1"/>
          <p:nvPr/>
        </p:nvSpPr>
        <p:spPr>
          <a:xfrm>
            <a:off x="411480" y="400507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8F0"/>
                </a:solidFill>
              </a:rPr>
              <a:t>Warm Standby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2651760" y="4005072"/>
            <a:ext cx="1005840" cy="402336"/>
          </a:xfrm>
          <a:prstGeom prst="rect">
            <a:avLst/>
          </a:prstGeom>
          <a:solidFill>
            <a:srgbClr val="1A2838"/>
          </a:solidFill>
          <a:ln w="6350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 txBox="1"/>
          <p:nvPr/>
        </p:nvSpPr>
        <p:spPr>
          <a:xfrm>
            <a:off x="2697480" y="400507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</a:rPr>
              <a:t>~1 min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3657600" y="4005072"/>
            <a:ext cx="1005840" cy="402336"/>
          </a:xfrm>
          <a:prstGeom prst="rect">
            <a:avLst/>
          </a:prstGeom>
          <a:solidFill>
            <a:srgbClr val="1A2838"/>
          </a:solidFill>
          <a:ln w="6350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 txBox="1"/>
          <p:nvPr/>
        </p:nvSpPr>
        <p:spPr>
          <a:xfrm>
            <a:off x="3703320" y="4005072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E676"/>
                </a:solidFill>
              </a:rPr>
              <a:t>Segundos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4663440" y="4005072"/>
            <a:ext cx="640080" cy="402336"/>
          </a:xfrm>
          <a:prstGeom prst="rect">
            <a:avLst/>
          </a:prstGeom>
          <a:solidFill>
            <a:srgbClr val="1A2838"/>
          </a:solidFill>
          <a:ln w="6350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 txBox="1"/>
          <p:nvPr/>
        </p:nvSpPr>
        <p:spPr>
          <a:xfrm>
            <a:off x="4709160" y="4005072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8F0"/>
                </a:solidFill>
              </a:rPr>
              <a:t>$$$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5303520" y="4005072"/>
            <a:ext cx="1828800" cy="402336"/>
          </a:xfrm>
          <a:prstGeom prst="rect">
            <a:avLst/>
          </a:prstGeom>
          <a:solidFill>
            <a:srgbClr val="1A2838"/>
          </a:solidFill>
          <a:ln w="6350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 txBox="1"/>
          <p:nvPr/>
        </p:nvSpPr>
        <p:spPr>
          <a:xfrm>
            <a:off x="5349240" y="400507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8F0"/>
                </a:solidFill>
              </a:rPr>
              <a:t>Producción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365760" y="4425696"/>
            <a:ext cx="2286000" cy="402336"/>
          </a:xfrm>
          <a:prstGeom prst="rect">
            <a:avLst/>
          </a:prstGeom>
          <a:solidFill>
            <a:srgbClr val="0F1923"/>
          </a:solidFill>
          <a:ln w="6350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 txBox="1"/>
          <p:nvPr/>
        </p:nvSpPr>
        <p:spPr>
          <a:xfrm>
            <a:off x="411480" y="4425696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8F0"/>
                </a:solidFill>
              </a:rPr>
              <a:t>Multi-site Active/Active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2651760" y="4425696"/>
            <a:ext cx="1005840" cy="402336"/>
          </a:xfrm>
          <a:prstGeom prst="rect">
            <a:avLst/>
          </a:prstGeom>
          <a:solidFill>
            <a:srgbClr val="0F1923"/>
          </a:solidFill>
          <a:ln w="6350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 txBox="1"/>
          <p:nvPr/>
        </p:nvSpPr>
        <p:spPr>
          <a:xfrm>
            <a:off x="2697480" y="442569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</a:rPr>
              <a:t>~0s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3657600" y="4425696"/>
            <a:ext cx="1005840" cy="402336"/>
          </a:xfrm>
          <a:prstGeom prst="rect">
            <a:avLst/>
          </a:prstGeom>
          <a:solidFill>
            <a:srgbClr val="0F1923"/>
          </a:solidFill>
          <a:ln w="6350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 txBox="1"/>
          <p:nvPr/>
        </p:nvSpPr>
        <p:spPr>
          <a:xfrm>
            <a:off x="3703320" y="4425696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E676"/>
                </a:solidFill>
              </a:rPr>
              <a:t>~0s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4663440" y="4425696"/>
            <a:ext cx="640080" cy="402336"/>
          </a:xfrm>
          <a:prstGeom prst="rect">
            <a:avLst/>
          </a:prstGeom>
          <a:solidFill>
            <a:srgbClr val="0F1923"/>
          </a:solidFill>
          <a:ln w="6350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 txBox="1"/>
          <p:nvPr/>
        </p:nvSpPr>
        <p:spPr>
          <a:xfrm>
            <a:off x="4709160" y="4425696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8F0"/>
                </a:solidFill>
              </a:rPr>
              <a:t>$$$$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5303520" y="4425696"/>
            <a:ext cx="1828800" cy="402336"/>
          </a:xfrm>
          <a:prstGeom prst="rect">
            <a:avLst/>
          </a:prstGeom>
          <a:solidFill>
            <a:srgbClr val="0F1923"/>
          </a:solidFill>
          <a:ln w="6350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 txBox="1"/>
          <p:nvPr/>
        </p:nvSpPr>
        <p:spPr>
          <a:xfrm>
            <a:off x="5349240" y="442569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8F0"/>
                </a:solidFill>
              </a:rPr>
              <a:t>Misión crítica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64592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3429000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500" dirty="0">
                <a:solidFill>
                  <a:srgbClr val="F5A623"/>
                </a:solidFill>
              </a:rPr>
              <a:t>CAPÍTULO 3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75564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Tema 6</a:t>
            </a:r>
            <a:endParaRPr lang="en-US" sz="5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E0E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y Documentación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5478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5AA"/>
                </a:solidFill>
              </a:rPr>
              <a:t>ADR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35478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5AA"/>
                </a:solidFill>
              </a:rPr>
              <a:t>C4 Model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840480" y="35478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5AA"/>
                </a:solidFill>
              </a:rPr>
              <a:t>RFC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35478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5AA"/>
                </a:solidFill>
              </a:rPr>
              <a:t>TCO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35478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5AA"/>
                </a:solidFill>
              </a:rPr>
              <a:t>PRD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Decision Records (ADR)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95AA"/>
                </a:solidFill>
              </a:rPr>
              <a:t>Registro inmutable del porqué de cada decisión arquitectónica importante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09728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A623"/>
                </a:solidFill>
              </a:rPr>
              <a:t>ESTRUCTURA DE UN ADR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069080" cy="457200"/>
          </a:xfrm>
          <a:prstGeom prst="rect">
            <a:avLst/>
          </a:prstGeom>
          <a:solidFill>
            <a:srgbClr val="1A2838"/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57200" y="145389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Título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91640" y="1490472"/>
            <a:ext cx="0" cy="320040"/>
          </a:xfrm>
          <a:prstGeom prst="line">
            <a:avLst/>
          </a:prstGeom>
          <a:noFill/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783080" y="1453896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5AA"/>
                </a:solidFill>
              </a:rPr>
              <a:t>ADR-001: Usar JWT con scopes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929384"/>
            <a:ext cx="4069080" cy="457200"/>
          </a:xfrm>
          <a:prstGeom prst="rect">
            <a:avLst/>
          </a:prstGeom>
          <a:solidFill>
            <a:srgbClr val="1A2838"/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57200" y="19659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95AA"/>
                </a:solidFill>
              </a:rPr>
              <a:t>Estado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691640" y="2002536"/>
            <a:ext cx="0" cy="320040"/>
          </a:xfrm>
          <a:prstGeom prst="line">
            <a:avLst/>
          </a:prstGeom>
          <a:noFill/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1783080" y="1965960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5AA"/>
                </a:solidFill>
              </a:rPr>
              <a:t>Propuesto / Aceptado / Deprecado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441448"/>
            <a:ext cx="4069080" cy="457200"/>
          </a:xfrm>
          <a:prstGeom prst="rect">
            <a:avLst/>
          </a:prstGeom>
          <a:solidFill>
            <a:srgbClr val="1A2838"/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57200" y="247802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E8F0"/>
                </a:solidFill>
              </a:rPr>
              <a:t>Contexto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691640" y="2514600"/>
            <a:ext cx="0" cy="320040"/>
          </a:xfrm>
          <a:prstGeom prst="line">
            <a:avLst/>
          </a:prstGeom>
          <a:noFill/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1783080" y="2478024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5AA"/>
                </a:solidFill>
              </a:rPr>
              <a:t>¿Por qué necesitamos decidir esto?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953512"/>
            <a:ext cx="4069080" cy="457200"/>
          </a:xfrm>
          <a:prstGeom prst="rect">
            <a:avLst/>
          </a:prstGeom>
          <a:solidFill>
            <a:srgbClr val="1A2838"/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457200" y="29900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676"/>
                </a:solidFill>
              </a:rPr>
              <a:t>Decisión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691640" y="3026664"/>
            <a:ext cx="0" cy="320040"/>
          </a:xfrm>
          <a:prstGeom prst="line">
            <a:avLst/>
          </a:prstGeom>
          <a:noFill/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1783080" y="2990088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5AA"/>
                </a:solidFill>
              </a:rPr>
              <a:t>"Usaremos JWT con scopes read/write/admin"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465576"/>
            <a:ext cx="4069080" cy="457200"/>
          </a:xfrm>
          <a:prstGeom prst="rect">
            <a:avLst/>
          </a:prstGeom>
          <a:solidFill>
            <a:srgbClr val="1A2838"/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457200" y="350215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E8F0"/>
                </a:solidFill>
              </a:rPr>
              <a:t>Consecuencias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691640" y="3538728"/>
            <a:ext cx="0" cy="320040"/>
          </a:xfrm>
          <a:prstGeom prst="line">
            <a:avLst/>
          </a:prstGeom>
          <a:noFill/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1783080" y="3502152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5AA"/>
                </a:solidFill>
              </a:rPr>
              <a:t>Pros, contras, trade-offs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977640"/>
            <a:ext cx="4069080" cy="457200"/>
          </a:xfrm>
          <a:prstGeom prst="rect">
            <a:avLst/>
          </a:prstGeom>
          <a:solidFill>
            <a:srgbClr val="1A2838"/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457200" y="401421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</a:rPr>
              <a:t>Criterios éxito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691640" y="4050792"/>
            <a:ext cx="0" cy="320040"/>
          </a:xfrm>
          <a:prstGeom prst="line">
            <a:avLst/>
          </a:prstGeom>
          <a:noFill/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1783080" y="4014216"/>
            <a:ext cx="2578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5AA"/>
                </a:solidFill>
              </a:rPr>
              <a:t>KPIs que validan la decisión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754880" y="109728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D4FF"/>
                </a:solidFill>
              </a:rPr>
              <a:t>EJEMPLO: ADR-001 (fragmento)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1417320"/>
            <a:ext cx="4206240" cy="3474720"/>
          </a:xfrm>
          <a:prstGeom prst="rect">
            <a:avLst/>
          </a:prstGeom>
          <a:solidFill>
            <a:srgbClr val="1A2838"/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4892040" y="1481328"/>
            <a:ext cx="393192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 ADR-001: Autenticación JWT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892040" y="1874520"/>
            <a:ext cx="393192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6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Estado: Aceptado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892040" y="2071116"/>
            <a:ext cx="393192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5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Fecha: 2024-10-19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892040" y="2464308"/>
            <a:ext cx="393192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## Contexto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4892040" y="2660904"/>
            <a:ext cx="393192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Necesitamos auth stateless para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4892040" y="2857500"/>
            <a:ext cx="393192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 API con múltiples clientes.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4892040" y="3250692"/>
            <a:ext cx="393192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## Decisión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4892040" y="3447288"/>
            <a:ext cx="393192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Usaremos JWT HS256 con scopes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4892040" y="3643884"/>
            <a:ext cx="393192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read, write y admin.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4892040" y="4037076"/>
            <a:ext cx="393192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## Alternativas descartadas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4892040" y="4233672"/>
            <a:ext cx="393192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5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Sessions: requiere estado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4892040" y="4430268"/>
            <a:ext cx="3931920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5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API Keys: sin expiración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C4 de Documentación Arquitectónica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95AA"/>
                </a:solidFill>
              </a:rPr>
              <a:t>4 niveles de zoom — desde negocio hasta código — para audiencias distintas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828800" cy="1691640"/>
          </a:xfrm>
          <a:prstGeom prst="rect">
            <a:avLst/>
          </a:prstGeom>
          <a:solidFill>
            <a:srgbClr val="223548"/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182880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274320" y="117043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FF"/>
                </a:solidFill>
              </a:rPr>
              <a:t>L1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274320" y="153619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Context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1828800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E8F0"/>
                </a:solidFill>
              </a:rPr>
              <a:t>El sistema en su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0E8F0"/>
                </a:solidFill>
              </a:rPr>
              <a:t>entorno de negocio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2423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5AA"/>
                </a:solidFill>
              </a:rPr>
              <a:t>👥 CEO, Stakeholders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48840" y="1828800"/>
            <a:ext cx="274320" cy="0"/>
          </a:xfrm>
          <a:prstGeom prst="line">
            <a:avLst/>
          </a:prstGeom>
          <a:noFill/>
          <a:ln w="12700">
            <a:solidFill>
              <a:srgbClr val="2A3F54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23160" y="1097280"/>
            <a:ext cx="1828800" cy="1691640"/>
          </a:xfrm>
          <a:prstGeom prst="rect">
            <a:avLst/>
          </a:prstGeom>
          <a:solidFill>
            <a:srgbClr val="223548"/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423160" y="1097280"/>
            <a:ext cx="18288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2423160" y="117043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A623"/>
                </a:solidFill>
              </a:rPr>
              <a:t>L2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2423160" y="153619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Containers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514600" y="1828800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E8F0"/>
                </a:solidFill>
              </a:rPr>
              <a:t>Partes desplegables: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0E8F0"/>
                </a:solidFill>
              </a:rPr>
              <a:t>API, DB, Frontend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2514600" y="2423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5AA"/>
                </a:solidFill>
              </a:rPr>
              <a:t>👥 Arquitectos, DevOps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297680" y="1828800"/>
            <a:ext cx="274320" cy="0"/>
          </a:xfrm>
          <a:prstGeom prst="line">
            <a:avLst/>
          </a:prstGeom>
          <a:noFill/>
          <a:ln w="12700">
            <a:solidFill>
              <a:srgbClr val="2A3F54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0" y="1097280"/>
            <a:ext cx="1828800" cy="1691640"/>
          </a:xfrm>
          <a:prstGeom prst="rect">
            <a:avLst/>
          </a:prstGeom>
          <a:solidFill>
            <a:srgbClr val="223548"/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0" y="1097280"/>
            <a:ext cx="1828800" cy="4572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572000" y="117043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676"/>
                </a:solidFill>
              </a:rPr>
              <a:t>L3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153619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Components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663440" y="1828800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E8F0"/>
                </a:solidFill>
              </a:rPr>
              <a:t>Módulos dentro de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0E8F0"/>
                </a:solidFill>
              </a:rPr>
              <a:t>cada container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663440" y="2423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5AA"/>
                </a:solidFill>
              </a:rPr>
              <a:t>👥 Desarrolladores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46520" y="1828800"/>
            <a:ext cx="274320" cy="0"/>
          </a:xfrm>
          <a:prstGeom prst="line">
            <a:avLst/>
          </a:prstGeom>
          <a:noFill/>
          <a:ln w="12700">
            <a:solidFill>
              <a:srgbClr val="2A3F54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720840" y="1097280"/>
            <a:ext cx="1828800" cy="1691640"/>
          </a:xfrm>
          <a:prstGeom prst="rect">
            <a:avLst/>
          </a:prstGeom>
          <a:solidFill>
            <a:srgbClr val="223548"/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720840" y="1097280"/>
            <a:ext cx="1828800" cy="45720"/>
          </a:xfrm>
          <a:prstGeom prst="rect">
            <a:avLst/>
          </a:prstGeom>
          <a:solidFill>
            <a:srgbClr val="7A95AA"/>
          </a:solidFill>
          <a:ln w="12700">
            <a:solidFill>
              <a:srgbClr val="7A95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6720840" y="117043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A95AA"/>
                </a:solidFill>
              </a:rPr>
              <a:t>L4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6720840" y="153619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Code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812280" y="1828800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E8F0"/>
                </a:solidFill>
              </a:rPr>
              <a:t>Clases, funciones,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0E8F0"/>
                </a:solidFill>
              </a:rPr>
              <a:t>diagramas UML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6812280" y="2423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95AA"/>
                </a:solidFill>
              </a:rPr>
              <a:t>👥 Desarrolladores senior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2926080"/>
            <a:ext cx="8321040" cy="0"/>
          </a:xfrm>
          <a:prstGeom prst="line">
            <a:avLst/>
          </a:prstGeom>
          <a:noFill/>
          <a:ln w="6350">
            <a:solidFill>
              <a:srgbClr val="2A3F5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365760" y="29718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5AA"/>
                </a:solidFill>
              </a:rPr>
              <a:t>⬆ Más abstracto / negocio                                          Más técnico / código ⬇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365760" y="331012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A623"/>
                </a:solidFill>
              </a:rPr>
              <a:t>REGLA DE ORO DEL C4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3611880"/>
            <a:ext cx="8412480" cy="1325880"/>
          </a:xfrm>
          <a:prstGeom prst="rect">
            <a:avLst/>
          </a:prstGeom>
          <a:solidFill>
            <a:srgbClr val="1A2838"/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48640" y="3749040"/>
            <a:ext cx="228600" cy="2286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868680" y="3657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Cada elemento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868680" y="39319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8F0"/>
                </a:solidFill>
              </a:rPr>
              <a:t>tiene nombre, tecnología y responsabilidad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54880" y="3749040"/>
            <a:ext cx="228600" cy="2286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5074920" y="3657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Cada relación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5074920" y="39319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8F0"/>
                </a:solidFill>
              </a:rPr>
              <a:t>muestra qué protocolo usa y qué comunica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48640" y="4343400"/>
            <a:ext cx="228600" cy="2286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 txBox="1"/>
          <p:nvPr/>
        </p:nvSpPr>
        <p:spPr>
          <a:xfrm>
            <a:off x="868680" y="42519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L1 y L2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868680" y="45262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8F0"/>
                </a:solidFill>
              </a:rPr>
              <a:t>son obligatorios — L3 y L4 según complejidad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754880" y="4343400"/>
            <a:ext cx="228600" cy="2286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 txBox="1"/>
          <p:nvPr/>
        </p:nvSpPr>
        <p:spPr>
          <a:xfrm>
            <a:off x="5074920" y="42519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Una audiencia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5074920" y="45262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8F0"/>
                </a:solidFill>
              </a:rPr>
              <a:t>por diagrama — no mezclar niveles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de Costos — TCO 24 Meses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95AA"/>
                </a:solidFill>
              </a:rPr>
              <a:t>Total Cost of Ownership — decisión estratégica, no solo técnica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0972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D4FF"/>
                </a:solidFill>
              </a:rPr>
              <a:t>COMPONENTES DEL TCO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1965960" cy="868680"/>
          </a:xfrm>
          <a:prstGeom prst="rect">
            <a:avLst/>
          </a:prstGeom>
          <a:solidFill>
            <a:srgbClr val="1A2838"/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1965960" cy="457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57200" y="148132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</a:rPr>
              <a:t>Infraestructura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82880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5AA"/>
                </a:solidFill>
              </a:rPr>
              <a:t>Cloud Run, GKE, Storage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14600" y="1417320"/>
            <a:ext cx="1965960" cy="868680"/>
          </a:xfrm>
          <a:prstGeom prst="rect">
            <a:avLst/>
          </a:prstGeom>
          <a:solidFill>
            <a:srgbClr val="1A2838"/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14600" y="1417320"/>
            <a:ext cx="196596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2606040" y="148132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</a:rPr>
              <a:t>LLM API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606040" y="182880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5AA"/>
                </a:solidFill>
              </a:rPr>
              <a:t>Tokens input/output por requests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417320"/>
            <a:ext cx="1965960" cy="868680"/>
          </a:xfrm>
          <a:prstGeom prst="rect">
            <a:avLst/>
          </a:prstGeom>
          <a:solidFill>
            <a:srgbClr val="1A2838"/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63440" y="1417320"/>
            <a:ext cx="1965960" cy="4572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4754880" y="148132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</a:rPr>
              <a:t>Operaciones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182880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5AA"/>
                </a:solidFill>
              </a:rPr>
              <a:t>Monitoreo, CI/CD, Soporte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12280" y="1417320"/>
            <a:ext cx="1965960" cy="868680"/>
          </a:xfrm>
          <a:prstGeom prst="rect">
            <a:avLst/>
          </a:prstGeom>
          <a:solidFill>
            <a:srgbClr val="1A2838"/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812280" y="1417320"/>
            <a:ext cx="1965960" cy="45720"/>
          </a:xfrm>
          <a:prstGeom prst="rect">
            <a:avLst/>
          </a:prstGeom>
          <a:solidFill>
            <a:srgbClr val="7A95AA"/>
          </a:solidFill>
          <a:ln w="12700">
            <a:solidFill>
              <a:srgbClr val="7A95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903720" y="148132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95AA"/>
                </a:solidFill>
              </a:rPr>
              <a:t>Licencias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182880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5AA"/>
                </a:solidFill>
              </a:rPr>
              <a:t>Herramientas, frameworks, SaaS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65760" y="24231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A623"/>
                </a:solidFill>
              </a:rPr>
              <a:t>COMPARATIVA POR PROVEEDOR LLM — 50,000 req/mes · 800 tokens avg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2743200"/>
            <a:ext cx="1828800" cy="347472"/>
          </a:xfrm>
          <a:prstGeom prst="rect">
            <a:avLst/>
          </a:prstGeom>
          <a:solidFill>
            <a:srgbClr val="223548"/>
          </a:solidFill>
          <a:ln w="6350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420624" y="274320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Proveedor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194560" y="2743200"/>
            <a:ext cx="1463040" cy="347472"/>
          </a:xfrm>
          <a:prstGeom prst="rect">
            <a:avLst/>
          </a:prstGeom>
          <a:solidFill>
            <a:srgbClr val="223548"/>
          </a:solidFill>
          <a:ln w="6350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2249424" y="27432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Costo/mes tokens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0" y="2743200"/>
            <a:ext cx="1463040" cy="347472"/>
          </a:xfrm>
          <a:prstGeom prst="rect">
            <a:avLst/>
          </a:prstGeom>
          <a:solidFill>
            <a:srgbClr val="223548"/>
          </a:solidFill>
          <a:ln w="6350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3712464" y="27432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Infra/mes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120640" y="2743200"/>
            <a:ext cx="1371600" cy="347472"/>
          </a:xfrm>
          <a:prstGeom prst="rect">
            <a:avLst/>
          </a:prstGeom>
          <a:solidFill>
            <a:srgbClr val="223548"/>
          </a:solidFill>
          <a:ln w="6350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5175504" y="274320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Total/mes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92240" y="2743200"/>
            <a:ext cx="1645920" cy="347472"/>
          </a:xfrm>
          <a:prstGeom prst="rect">
            <a:avLst/>
          </a:prstGeom>
          <a:solidFill>
            <a:srgbClr val="223548"/>
          </a:solidFill>
          <a:ln w="6350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6547104" y="27432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</a:rPr>
              <a:t>TCO 24m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3090672"/>
            <a:ext cx="1828800" cy="438912"/>
          </a:xfrm>
          <a:prstGeom prst="rect">
            <a:avLst/>
          </a:prstGeom>
          <a:solidFill>
            <a:srgbClr val="1A2838"/>
          </a:solidFill>
          <a:ln w="6350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420624" y="309067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8F0"/>
                </a:solidFill>
              </a:rPr>
              <a:t>Ollama (local)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194560" y="3090672"/>
            <a:ext cx="1463040" cy="438912"/>
          </a:xfrm>
          <a:prstGeom prst="rect">
            <a:avLst/>
          </a:prstGeom>
          <a:solidFill>
            <a:srgbClr val="1A2838"/>
          </a:solidFill>
          <a:ln w="6350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2249424" y="309067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5AA"/>
                </a:solidFill>
              </a:rPr>
              <a:t>$0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57600" y="3090672"/>
            <a:ext cx="1463040" cy="438912"/>
          </a:xfrm>
          <a:prstGeom prst="rect">
            <a:avLst/>
          </a:prstGeom>
          <a:solidFill>
            <a:srgbClr val="1A2838"/>
          </a:solidFill>
          <a:ln w="6350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3712464" y="309067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5AA"/>
                </a:solidFill>
              </a:rPr>
              <a:t>$120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120640" y="3090672"/>
            <a:ext cx="1371600" cy="438912"/>
          </a:xfrm>
          <a:prstGeom prst="rect">
            <a:avLst/>
          </a:prstGeom>
          <a:solidFill>
            <a:srgbClr val="1A2838"/>
          </a:solidFill>
          <a:ln w="6350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5175504" y="309067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5AA"/>
                </a:solidFill>
              </a:rPr>
              <a:t>$120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92240" y="3090672"/>
            <a:ext cx="1645920" cy="438912"/>
          </a:xfrm>
          <a:prstGeom prst="rect">
            <a:avLst/>
          </a:prstGeom>
          <a:solidFill>
            <a:srgbClr val="1A2838"/>
          </a:solidFill>
          <a:ln w="6350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6547104" y="309067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</a:rPr>
              <a:t>$2,880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365760" y="3547872"/>
            <a:ext cx="1828800" cy="438912"/>
          </a:xfrm>
          <a:prstGeom prst="rect">
            <a:avLst/>
          </a:prstGeom>
          <a:solidFill>
            <a:srgbClr val="0F1923"/>
          </a:solidFill>
          <a:ln w="6350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 txBox="1"/>
          <p:nvPr/>
        </p:nvSpPr>
        <p:spPr>
          <a:xfrm>
            <a:off x="420624" y="354787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8F0"/>
                </a:solidFill>
              </a:rPr>
              <a:t>Vertex AI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194560" y="3547872"/>
            <a:ext cx="1463040" cy="438912"/>
          </a:xfrm>
          <a:prstGeom prst="rect">
            <a:avLst/>
          </a:prstGeom>
          <a:solidFill>
            <a:srgbClr val="0F1923"/>
          </a:solidFill>
          <a:ln w="6350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 txBox="1"/>
          <p:nvPr/>
        </p:nvSpPr>
        <p:spPr>
          <a:xfrm>
            <a:off x="2249424" y="354787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5AA"/>
                </a:solidFill>
              </a:rPr>
              <a:t>$82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657600" y="3547872"/>
            <a:ext cx="1463040" cy="438912"/>
          </a:xfrm>
          <a:prstGeom prst="rect">
            <a:avLst/>
          </a:prstGeom>
          <a:solidFill>
            <a:srgbClr val="0F1923"/>
          </a:solidFill>
          <a:ln w="6350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 txBox="1"/>
          <p:nvPr/>
        </p:nvSpPr>
        <p:spPr>
          <a:xfrm>
            <a:off x="3712464" y="354787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5AA"/>
                </a:solidFill>
              </a:rPr>
              <a:t>$95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120640" y="3547872"/>
            <a:ext cx="1371600" cy="438912"/>
          </a:xfrm>
          <a:prstGeom prst="rect">
            <a:avLst/>
          </a:prstGeom>
          <a:solidFill>
            <a:srgbClr val="0F1923"/>
          </a:solidFill>
          <a:ln w="6350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 txBox="1"/>
          <p:nvPr/>
        </p:nvSpPr>
        <p:spPr>
          <a:xfrm>
            <a:off x="5175504" y="354787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5AA"/>
                </a:solidFill>
              </a:rPr>
              <a:t>$177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492240" y="3547872"/>
            <a:ext cx="1645920" cy="438912"/>
          </a:xfrm>
          <a:prstGeom prst="rect">
            <a:avLst/>
          </a:prstGeom>
          <a:solidFill>
            <a:srgbClr val="0F1923"/>
          </a:solidFill>
          <a:ln w="6350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 txBox="1"/>
          <p:nvPr/>
        </p:nvSpPr>
        <p:spPr>
          <a:xfrm>
            <a:off x="6547104" y="354787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</a:rPr>
              <a:t>$4,248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365760" y="4005072"/>
            <a:ext cx="1828800" cy="438912"/>
          </a:xfrm>
          <a:prstGeom prst="rect">
            <a:avLst/>
          </a:prstGeom>
          <a:solidFill>
            <a:srgbClr val="1A2838"/>
          </a:solidFill>
          <a:ln w="6350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 txBox="1"/>
          <p:nvPr/>
        </p:nvSpPr>
        <p:spPr>
          <a:xfrm>
            <a:off x="420624" y="4005072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8F0"/>
                </a:solidFill>
              </a:rPr>
              <a:t>OpenAI GPT-4o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194560" y="4005072"/>
            <a:ext cx="1463040" cy="438912"/>
          </a:xfrm>
          <a:prstGeom prst="rect">
            <a:avLst/>
          </a:prstGeom>
          <a:solidFill>
            <a:srgbClr val="1A2838"/>
          </a:solidFill>
          <a:ln w="6350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 txBox="1"/>
          <p:nvPr/>
        </p:nvSpPr>
        <p:spPr>
          <a:xfrm>
            <a:off x="2249424" y="400507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5AA"/>
                </a:solidFill>
              </a:rPr>
              <a:t>$240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3657600" y="4005072"/>
            <a:ext cx="1463040" cy="438912"/>
          </a:xfrm>
          <a:prstGeom prst="rect">
            <a:avLst/>
          </a:prstGeom>
          <a:solidFill>
            <a:srgbClr val="1A2838"/>
          </a:solidFill>
          <a:ln w="6350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 txBox="1"/>
          <p:nvPr/>
        </p:nvSpPr>
        <p:spPr>
          <a:xfrm>
            <a:off x="3712464" y="400507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5AA"/>
                </a:solidFill>
              </a:rPr>
              <a:t>$40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5120640" y="4005072"/>
            <a:ext cx="1371600" cy="438912"/>
          </a:xfrm>
          <a:prstGeom prst="rect">
            <a:avLst/>
          </a:prstGeom>
          <a:solidFill>
            <a:srgbClr val="1A2838"/>
          </a:solidFill>
          <a:ln w="6350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 txBox="1"/>
          <p:nvPr/>
        </p:nvSpPr>
        <p:spPr>
          <a:xfrm>
            <a:off x="5175504" y="400507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95AA"/>
                </a:solidFill>
              </a:rPr>
              <a:t>$280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492240" y="4005072"/>
            <a:ext cx="1645920" cy="438912"/>
          </a:xfrm>
          <a:prstGeom prst="rect">
            <a:avLst/>
          </a:prstGeom>
          <a:solidFill>
            <a:srgbClr val="1A2838"/>
          </a:solidFill>
          <a:ln w="6350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 txBox="1"/>
          <p:nvPr/>
        </p:nvSpPr>
        <p:spPr>
          <a:xfrm>
            <a:off x="6547104" y="400507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</a:rPr>
              <a:t>$6,720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365760" y="4526280"/>
            <a:ext cx="8412480" cy="411480"/>
          </a:xfrm>
          <a:prstGeom prst="rect">
            <a:avLst/>
          </a:prstGeom>
          <a:solidFill>
            <a:srgbClr val="223548"/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365760" y="4526280"/>
            <a:ext cx="54864" cy="411480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 txBox="1"/>
          <p:nvPr/>
        </p:nvSpPr>
        <p:spPr>
          <a:xfrm>
            <a:off x="548640" y="45262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8F0"/>
                </a:solidFill>
              </a:rPr>
              <a:t>💡  Ollama reduce el TCO un 57% vs Vertex AI y 81% vs OpenAI para el mismo volumen de requests.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RFC y PRD — Gobernanza de Cambios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95AA"/>
                </a:solidFill>
              </a:rPr>
              <a:t>Dos artefactos complementarios para decisiones técnicas y de producto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931920" cy="3840480"/>
          </a:xfrm>
          <a:prstGeom prst="rect">
            <a:avLst/>
          </a:prstGeom>
          <a:solidFill>
            <a:srgbClr val="1A2838"/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393192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0292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4FF"/>
                </a:solidFill>
              </a:rPr>
              <a:t>RFC — Request for Comments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15727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5AA"/>
                </a:solidFill>
              </a:rPr>
              <a:t>Propuesta técnica abierta a revisión del equipo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901952"/>
            <a:ext cx="1097280" cy="347472"/>
          </a:xfrm>
          <a:prstGeom prst="rect">
            <a:avLst/>
          </a:prstGeom>
          <a:solidFill>
            <a:srgbClr val="223548"/>
          </a:solidFill>
          <a:ln w="6350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02920" y="1901952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</a:rPr>
              <a:t>Resumen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627632" y="193852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8F0"/>
                </a:solidFill>
              </a:rPr>
              <a:t>¿Qué propone y por qué?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1097280" cy="347472"/>
          </a:xfrm>
          <a:prstGeom prst="rect">
            <a:avLst/>
          </a:prstGeom>
          <a:solidFill>
            <a:srgbClr val="223548"/>
          </a:solidFill>
          <a:ln w="6350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02920" y="2322576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</a:rPr>
              <a:t>Motivación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627632" y="23591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8F0"/>
                </a:solidFill>
              </a:rPr>
              <a:t>Problema + evidencia (métricas)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1097280" cy="347472"/>
          </a:xfrm>
          <a:prstGeom prst="rect">
            <a:avLst/>
          </a:prstGeom>
          <a:solidFill>
            <a:srgbClr val="223548"/>
          </a:solidFill>
          <a:ln w="6350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502920" y="2743200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</a:rPr>
              <a:t>Diseño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627632" y="277977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8F0"/>
                </a:solidFill>
              </a:rPr>
              <a:t>Solución técnica detallada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163824"/>
            <a:ext cx="1097280" cy="347472"/>
          </a:xfrm>
          <a:prstGeom prst="rect">
            <a:avLst/>
          </a:prstGeom>
          <a:solidFill>
            <a:srgbClr val="223548"/>
          </a:solidFill>
          <a:ln w="6350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02920" y="3163824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</a:rPr>
              <a:t>Trade-offs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627632" y="32004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8F0"/>
                </a:solidFill>
              </a:rPr>
              <a:t>Opciones A vs B vs No hacer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584448"/>
            <a:ext cx="1097280" cy="347472"/>
          </a:xfrm>
          <a:prstGeom prst="rect">
            <a:avLst/>
          </a:prstGeom>
          <a:solidFill>
            <a:srgbClr val="223548"/>
          </a:solidFill>
          <a:ln w="6350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502920" y="3584448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</a:rPr>
              <a:t>Implementación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627632" y="362102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8F0"/>
                </a:solidFill>
              </a:rPr>
              <a:t>Fases, estimados, rollback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005072"/>
            <a:ext cx="1097280" cy="347472"/>
          </a:xfrm>
          <a:prstGeom prst="rect">
            <a:avLst/>
          </a:prstGeom>
          <a:solidFill>
            <a:srgbClr val="223548"/>
          </a:solidFill>
          <a:ln w="6350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502920" y="4005072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</a:rPr>
              <a:t>Impacto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627632" y="404164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8F0"/>
                </a:solidFill>
              </a:rPr>
              <a:t>Rendimiento, costo, seguridad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425696"/>
            <a:ext cx="1097280" cy="347472"/>
          </a:xfrm>
          <a:prstGeom prst="rect">
            <a:avLst/>
          </a:prstGeom>
          <a:solidFill>
            <a:srgbClr val="223548"/>
          </a:solidFill>
          <a:ln w="6350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502920" y="4425696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</a:rPr>
              <a:t>Decisión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627632" y="446227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8F0"/>
                </a:solidFill>
              </a:rPr>
              <a:t>Aceptada / Rechazada + ADR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1097280"/>
            <a:ext cx="3931920" cy="3840480"/>
          </a:xfrm>
          <a:prstGeom prst="rect">
            <a:avLst/>
          </a:prstGeom>
          <a:solidFill>
            <a:srgbClr val="1A2838"/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846320" y="1097280"/>
            <a:ext cx="393192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498348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</a:rPr>
              <a:t>PRD — Product Requirements Doc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4983480" y="15727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5AA"/>
                </a:solidFill>
              </a:rPr>
              <a:t>Define QUÉ construir, no CÓMO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37760" y="1901952"/>
            <a:ext cx="411480" cy="457200"/>
          </a:xfrm>
          <a:prstGeom prst="rect">
            <a:avLst/>
          </a:prstGeom>
          <a:solidFill>
            <a:srgbClr val="FF5252">
              <a:alpha val="25000"/>
            </a:srgbClr>
          </a:solidFill>
          <a:ln w="12700">
            <a:solidFill>
              <a:srgbClr val="FF52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4937760" y="1901952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5252"/>
                </a:solidFill>
              </a:rPr>
              <a:t>P0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5440680" y="19202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5252"/>
                </a:solidFill>
              </a:rPr>
              <a:t>Must Have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5440680" y="21396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5AA"/>
                </a:solidFill>
              </a:rPr>
              <a:t>Sin esto no se lanza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937760" y="2450592"/>
            <a:ext cx="411480" cy="457200"/>
          </a:xfrm>
          <a:prstGeom prst="rect">
            <a:avLst/>
          </a:prstGeom>
          <a:solidFill>
            <a:srgbClr val="F5A623">
              <a:alpha val="25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4937760" y="2450592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</a:rPr>
              <a:t>P1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5440680" y="24688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Should Have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5440680" y="268833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5AA"/>
                </a:solidFill>
              </a:rPr>
              <a:t>Importante pero no crítico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937760" y="2999232"/>
            <a:ext cx="411480" cy="457200"/>
          </a:xfrm>
          <a:prstGeom prst="rect">
            <a:avLst/>
          </a:prstGeom>
          <a:solidFill>
            <a:srgbClr val="7A95AA">
              <a:alpha val="25000"/>
            </a:srgbClr>
          </a:solidFill>
          <a:ln w="12700">
            <a:solidFill>
              <a:srgbClr val="7A95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 txBox="1"/>
          <p:nvPr/>
        </p:nvSpPr>
        <p:spPr>
          <a:xfrm>
            <a:off x="4937760" y="2999232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A95AA"/>
                </a:solidFill>
              </a:rPr>
              <a:t>P2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5440680" y="30175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95AA"/>
                </a:solidFill>
              </a:rPr>
              <a:t>Nice to Have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5440680" y="32369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5AA"/>
                </a:solidFill>
              </a:rPr>
              <a:t>Si queda tiempo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4937760" y="35661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A623"/>
                </a:solidFill>
              </a:rPr>
              <a:t>KPIs DEL SISTEMA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937760" y="3858768"/>
            <a:ext cx="1783080" cy="438912"/>
          </a:xfrm>
          <a:prstGeom prst="rect">
            <a:avLst/>
          </a:prstGeom>
          <a:solidFill>
            <a:srgbClr val="223548"/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 txBox="1"/>
          <p:nvPr/>
        </p:nvSpPr>
        <p:spPr>
          <a:xfrm>
            <a:off x="5010912" y="3877056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5AA"/>
                </a:solidFill>
              </a:rPr>
              <a:t>P99 latencia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5010912" y="4078224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&lt; 2s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858000" y="3858768"/>
            <a:ext cx="1783080" cy="438912"/>
          </a:xfrm>
          <a:prstGeom prst="rect">
            <a:avLst/>
          </a:prstGeom>
          <a:solidFill>
            <a:srgbClr val="223548"/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 txBox="1"/>
          <p:nvPr/>
        </p:nvSpPr>
        <p:spPr>
          <a:xfrm>
            <a:off x="6931152" y="3877056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5AA"/>
                </a:solidFill>
              </a:rPr>
              <a:t>Disponibilidad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6931152" y="4078224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≥ 99.9%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937760" y="4361688"/>
            <a:ext cx="1783080" cy="438912"/>
          </a:xfrm>
          <a:prstGeom prst="rect">
            <a:avLst/>
          </a:prstGeom>
          <a:solidFill>
            <a:srgbClr val="223548"/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 txBox="1"/>
          <p:nvPr/>
        </p:nvSpPr>
        <p:spPr>
          <a:xfrm>
            <a:off x="5010912" y="4379976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5AA"/>
                </a:solidFill>
              </a:rPr>
              <a:t>WAF accuracy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5010912" y="4581144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&lt; 1% FP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6858000" y="4361688"/>
            <a:ext cx="1783080" cy="438912"/>
          </a:xfrm>
          <a:prstGeom prst="rect">
            <a:avLst/>
          </a:prstGeom>
          <a:solidFill>
            <a:srgbClr val="223548"/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 txBox="1"/>
          <p:nvPr/>
        </p:nvSpPr>
        <p:spPr>
          <a:xfrm>
            <a:off x="6931152" y="4379976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5AA"/>
                </a:solidFill>
              </a:rPr>
              <a:t>Auth success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6931152" y="4581144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&gt; 99%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Resumen de la Sesión 3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95AA"/>
                </a:solidFill>
              </a:rPr>
              <a:t>Lo que construimos y hacia dónde vamos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005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E676"/>
                </a:solidFill>
              </a:rPr>
              <a:t>✅  LO QUE VIMOS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325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8F0"/>
                </a:solidFill>
              </a:rPr>
              <a:t>▸  JWT con scopes + OAuth2 Password Flow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72821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8F0"/>
                </a:solidFill>
              </a:rPr>
              <a:t>▸  WAF: 5 categorías de amenaza, regex patterns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1305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8F0"/>
                </a:solidFill>
              </a:rPr>
              <a:t>▸  Circuit Breaker: 3 estados, asyncio.Lock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5328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8F0"/>
                </a:solidFill>
              </a:rPr>
              <a:t>▸  Failover LLM: Ollama → Vertex → OpenAI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93522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8F0"/>
                </a:solidFill>
              </a:rPr>
              <a:t>▸  DR: RTO/RPO, 4 estrategias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337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8F0"/>
                </a:solidFill>
              </a:rPr>
              <a:t>▸  ADR: registro inmutable de decisiones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7398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8F0"/>
                </a:solidFill>
              </a:rPr>
              <a:t>▸  C4 Model: 4 niveles de zoom arquitectónico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1422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8F0"/>
                </a:solidFill>
              </a:rPr>
              <a:t>▸  TCO 24m: Ollama 57% más barato que Vertex AI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1005840"/>
            <a:ext cx="4114800" cy="3931920"/>
          </a:xfrm>
          <a:prstGeom prst="rect">
            <a:avLst/>
          </a:prstGeom>
          <a:solidFill>
            <a:srgbClr val="1A2838"/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63440" y="1005840"/>
            <a:ext cx="41148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846320" y="10789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A623"/>
                </a:solidFill>
              </a:rPr>
              <a:t>PRÓXIMA SESIÓN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137160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Sesión 4 — Producción y</a:t>
            </a:r>
            <a:endParaRPr lang="en-US" sz="1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Observabilidad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754880" y="2148840"/>
            <a:ext cx="457200" cy="475488"/>
          </a:xfrm>
          <a:prstGeom prst="rect">
            <a:avLst/>
          </a:prstGeom>
          <a:solidFill>
            <a:srgbClr val="F5A623">
              <a:alpha val="20000"/>
            </a:srgbClr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754880" y="2148840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</a:rPr>
              <a:t>T7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03520" y="2185416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8F0"/>
                </a:solidFill>
              </a:rPr>
              <a:t>Deploy en producción (GKE + Terraform)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2743200"/>
            <a:ext cx="457200" cy="475488"/>
          </a:xfrm>
          <a:prstGeom prst="rect">
            <a:avLst/>
          </a:prstGeom>
          <a:solidFill>
            <a:srgbClr val="F5A623">
              <a:alpha val="20000"/>
            </a:srgbClr>
          </a:solidFill>
          <a:ln w="9525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4754880" y="2743200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</a:rPr>
              <a:t>T8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303520" y="2779776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8F0"/>
                </a:solidFill>
              </a:rPr>
              <a:t>Observabilidad: OpenTelemetry + Grafana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3337560"/>
            <a:ext cx="457200" cy="475488"/>
          </a:xfrm>
          <a:prstGeom prst="rect">
            <a:avLst/>
          </a:prstGeom>
          <a:solidFill>
            <a:srgbClr val="223548">
              <a:alpha val="50000"/>
            </a:srgbClr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4754880" y="3337560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A95AA"/>
                </a:solidFill>
              </a:rPr>
              <a:t>→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303520" y="3374136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8F0"/>
                </a:solidFill>
              </a:rPr>
              <a:t>CI/CD con Cloud Build + Artifact Registry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3931920"/>
            <a:ext cx="457200" cy="475488"/>
          </a:xfrm>
          <a:prstGeom prst="rect">
            <a:avLst/>
          </a:prstGeom>
          <a:solidFill>
            <a:srgbClr val="223548">
              <a:alpha val="50000"/>
            </a:srgbClr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4754880" y="3931920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A95AA"/>
                </a:solidFill>
              </a:rPr>
              <a:t>→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303520" y="3968496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8F0"/>
                </a:solidFill>
              </a:rPr>
              <a:t>SLO/SLA: error budgets y alertas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663440" y="4343400"/>
            <a:ext cx="4114800" cy="640080"/>
          </a:xfrm>
          <a:prstGeom prst="rect">
            <a:avLst/>
          </a:prstGeom>
          <a:solidFill>
            <a:srgbClr val="223548"/>
          </a:solidFill>
          <a:ln w="9525">
            <a:solidFill>
              <a:srgbClr val="2A3F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4800600" y="437083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</a:rPr>
              <a:t>🧪  Labs disponibles: make lab9 → lab14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800600" y="46634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5AA"/>
                </a:solidFill>
              </a:rPr>
              <a:t>Repo: sesion3-seguridad-arquitectura-llm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dnightTech">
  <a:themeElements>
    <a:clrScheme name="MidnightTech">
      <a:dk1>
        <a:srgbClr val="0F1923"/>
      </a:dk1>
      <a:lt1>
        <a:srgbClr val="FFFFFF"/>
      </a:lt1>
      <a:dk2>
        <a:srgbClr val="223548"/>
      </a:dk2>
      <a:lt2>
        <a:srgbClr val="E0E8F0"/>
      </a:lt2>
      <a:accent1>
        <a:srgbClr val="00D4FF"/>
      </a:accent1>
      <a:accent2>
        <a:srgbClr val="F5A623"/>
      </a:accent2>
      <a:accent3>
        <a:srgbClr val="00E676"/>
      </a:accent3>
      <a:accent4>
        <a:srgbClr val="7A95AA"/>
      </a:accent4>
      <a:accent5>
        <a:srgbClr val="2A3F54"/>
      </a:accent5>
      <a:accent6>
        <a:srgbClr val="FF5252"/>
      </a:accent6>
      <a:hlink>
        <a:srgbClr val="00D4FF"/>
      </a:hlink>
      <a:folHlink>
        <a:srgbClr val="7A95AA"/>
      </a:folHlink>
    </a:clrScheme>
    <a:fontScheme name="MidnightTech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1895</Words>
  <Application>Microsoft Office PowerPoint</Application>
  <PresentationFormat>On-screen Show (16:9)</PresentationFormat>
  <Paragraphs>444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Courier New</vt:lpstr>
      <vt:lpstr>MidnightTech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Sesion 3: Seguridad, Alta Disponibilidad y Diseno Arquitectonico</dc:title>
  <dc:subject>Sesion 3 - Seguridad y Arquitectura LLM</dc:subject>
  <dc:creator>Maestria BSG</dc:creator>
  <cp:lastModifiedBy>Andres Rojas</cp:lastModifiedBy>
  <cp:revision>1</cp:revision>
  <dcterms:created xsi:type="dcterms:W3CDTF">2026-10-20T00:58:02Z</dcterms:created>
  <dcterms:modified xsi:type="dcterms:W3CDTF">2026-10-20T01:03:29Z</dcterms:modified>
</cp:coreProperties>
</file>